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59"/>
  </p:notesMasterIdLst>
  <p:sldIdLst>
    <p:sldId id="295" r:id="rId2"/>
    <p:sldId id="351" r:id="rId3"/>
    <p:sldId id="353" r:id="rId4"/>
    <p:sldId id="383" r:id="rId5"/>
    <p:sldId id="369" r:id="rId6"/>
    <p:sldId id="368" r:id="rId7"/>
    <p:sldId id="386" r:id="rId8"/>
    <p:sldId id="354" r:id="rId9"/>
    <p:sldId id="373" r:id="rId10"/>
    <p:sldId id="367" r:id="rId11"/>
    <p:sldId id="376" r:id="rId12"/>
    <p:sldId id="375" r:id="rId13"/>
    <p:sldId id="355" r:id="rId14"/>
    <p:sldId id="365" r:id="rId15"/>
    <p:sldId id="382" r:id="rId16"/>
    <p:sldId id="357" r:id="rId17"/>
    <p:sldId id="267" r:id="rId18"/>
    <p:sldId id="364" r:id="rId19"/>
    <p:sldId id="297" r:id="rId20"/>
    <p:sldId id="269" r:id="rId21"/>
    <p:sldId id="256" r:id="rId22"/>
    <p:sldId id="271" r:id="rId23"/>
    <p:sldId id="272" r:id="rId24"/>
    <p:sldId id="349" r:id="rId25"/>
    <p:sldId id="273" r:id="rId26"/>
    <p:sldId id="299" r:id="rId27"/>
    <p:sldId id="371" r:id="rId28"/>
    <p:sldId id="300" r:id="rId29"/>
    <p:sldId id="301" r:id="rId30"/>
    <p:sldId id="324" r:id="rId31"/>
    <p:sldId id="378" r:id="rId32"/>
    <p:sldId id="303" r:id="rId33"/>
    <p:sldId id="304" r:id="rId34"/>
    <p:sldId id="305" r:id="rId35"/>
    <p:sldId id="306" r:id="rId36"/>
    <p:sldId id="307" r:id="rId37"/>
    <p:sldId id="309" r:id="rId38"/>
    <p:sldId id="325" r:id="rId39"/>
    <p:sldId id="345" r:id="rId40"/>
    <p:sldId id="346" r:id="rId41"/>
    <p:sldId id="326" r:id="rId42"/>
    <p:sldId id="379" r:id="rId43"/>
    <p:sldId id="380" r:id="rId44"/>
    <p:sldId id="381" r:id="rId45"/>
    <p:sldId id="279" r:id="rId46"/>
    <p:sldId id="262" r:id="rId47"/>
    <p:sldId id="280" r:id="rId48"/>
    <p:sldId id="263" r:id="rId49"/>
    <p:sldId id="281" r:id="rId50"/>
    <p:sldId id="282" r:id="rId51"/>
    <p:sldId id="283" r:id="rId52"/>
    <p:sldId id="284" r:id="rId53"/>
    <p:sldId id="285" r:id="rId54"/>
    <p:sldId id="287" r:id="rId55"/>
    <p:sldId id="385" r:id="rId56"/>
    <p:sldId id="296" r:id="rId57"/>
    <p:sldId id="377" r:id="rId5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9" userDrawn="1">
          <p15:clr>
            <a:srgbClr val="A4A3A4"/>
          </p15:clr>
        </p15:guide>
        <p15:guide id="2" pos="6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3FCFF"/>
    <a:srgbClr val="E8FAFF"/>
    <a:srgbClr val="F6FAFF"/>
    <a:srgbClr val="D7F2FF"/>
    <a:srgbClr val="B4CEFB"/>
    <a:srgbClr val="FFFFFF"/>
    <a:srgbClr val="99CCFF"/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30" autoAdjust="0"/>
    <p:restoredTop sz="85969" autoAdjust="0"/>
  </p:normalViewPr>
  <p:slideViewPr>
    <p:cSldViewPr snapToGrid="0">
      <p:cViewPr varScale="1">
        <p:scale>
          <a:sx n="104" d="100"/>
          <a:sy n="104" d="100"/>
        </p:scale>
        <p:origin x="1184" y="192"/>
      </p:cViewPr>
      <p:guideLst>
        <p:guide orient="horz" pos="789"/>
        <p:guide pos="6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45A3D4-87D7-4569-8764-080BEDCB47C9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0A6EC8D-D3A3-4FEF-898C-C382C52E110B}">
      <dgm:prSet phldrT="[文本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altLang="zh-CN" sz="2800" dirty="0"/>
            <a:t>traps</a:t>
          </a:r>
          <a:endParaRPr lang="zh-CN" altLang="en-US" sz="4800" dirty="0"/>
        </a:p>
      </dgm:t>
    </dgm:pt>
    <dgm:pt modelId="{B741E9DA-2190-4291-A466-2E876DD0C660}" type="parTrans" cxnId="{3DECE841-A343-4B8D-8AC6-70966DD4B7B7}">
      <dgm:prSet/>
      <dgm:spPr/>
      <dgm:t>
        <a:bodyPr/>
        <a:lstStyle/>
        <a:p>
          <a:endParaRPr lang="zh-CN" altLang="en-US"/>
        </a:p>
      </dgm:t>
    </dgm:pt>
    <dgm:pt modelId="{444C7848-C408-4D39-BE98-C2722A2BA13B}" type="sibTrans" cxnId="{3DECE841-A343-4B8D-8AC6-70966DD4B7B7}">
      <dgm:prSet/>
      <dgm:spPr/>
      <dgm:t>
        <a:bodyPr/>
        <a:lstStyle/>
        <a:p>
          <a:endParaRPr lang="zh-CN" altLang="en-US"/>
        </a:p>
      </dgm:t>
    </dgm:pt>
    <dgm:pt modelId="{72AE958A-D101-4D20-BB95-99E7292BF29D}">
      <dgm:prSet phldrT="[文本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altLang="zh-CN" sz="2000" dirty="0"/>
            <a:t>exceptions  &amp; </a:t>
          </a:r>
          <a:r>
            <a:rPr lang="en-US" altLang="zh-CN" sz="2000" dirty="0" err="1"/>
            <a:t>ecalls</a:t>
          </a:r>
          <a:endParaRPr lang="zh-CN" altLang="en-US" sz="2000" dirty="0"/>
        </a:p>
      </dgm:t>
    </dgm:pt>
    <dgm:pt modelId="{1B17FB15-52D1-4E7C-ABB6-73FF366B8171}" type="parTrans" cxnId="{CF25C4AC-4FBE-4D04-AAB9-7BE11E08B0F7}">
      <dgm:prSet/>
      <dgm:spPr/>
      <dgm:t>
        <a:bodyPr/>
        <a:lstStyle/>
        <a:p>
          <a:endParaRPr lang="zh-CN" altLang="en-US"/>
        </a:p>
      </dgm:t>
    </dgm:pt>
    <dgm:pt modelId="{4F2ABE1D-012F-4E76-A74E-DABB3863B9AB}" type="sibTrans" cxnId="{CF25C4AC-4FBE-4D04-AAB9-7BE11E08B0F7}">
      <dgm:prSet/>
      <dgm:spPr/>
      <dgm:t>
        <a:bodyPr/>
        <a:lstStyle/>
        <a:p>
          <a:endParaRPr lang="zh-CN" altLang="en-US"/>
        </a:p>
      </dgm:t>
    </dgm:pt>
    <dgm:pt modelId="{C2C38FB7-A9A3-458F-9744-363DE81C9F85}">
      <dgm:prSet phldrT="[文本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altLang="zh-CN" sz="2400" dirty="0"/>
            <a:t>interrupts</a:t>
          </a:r>
          <a:endParaRPr lang="zh-CN" altLang="en-US" sz="2600" dirty="0"/>
        </a:p>
      </dgm:t>
    </dgm:pt>
    <dgm:pt modelId="{CE89819A-AC39-4A22-BF39-AF2B2BEA6221}" type="parTrans" cxnId="{106AD173-4968-4508-AE0B-851748098872}">
      <dgm:prSet/>
      <dgm:spPr/>
      <dgm:t>
        <a:bodyPr/>
        <a:lstStyle/>
        <a:p>
          <a:endParaRPr lang="zh-CN" altLang="en-US"/>
        </a:p>
      </dgm:t>
    </dgm:pt>
    <dgm:pt modelId="{972A77B3-E800-40D1-B0DA-8DDD7B71FF8F}" type="sibTrans" cxnId="{106AD173-4968-4508-AE0B-851748098872}">
      <dgm:prSet/>
      <dgm:spPr/>
      <dgm:t>
        <a:bodyPr/>
        <a:lstStyle/>
        <a:p>
          <a:endParaRPr lang="zh-CN" altLang="en-US"/>
        </a:p>
      </dgm:t>
    </dgm:pt>
    <dgm:pt modelId="{14195CEF-B829-4DB9-BA55-34B8D67E9AF3}" type="pres">
      <dgm:prSet presAssocID="{D645A3D4-87D7-4569-8764-080BEDCB47C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079EB05-D266-4A02-A32B-540A7EB3300A}" type="pres">
      <dgm:prSet presAssocID="{C0A6EC8D-D3A3-4FEF-898C-C382C52E110B}" presName="root1" presStyleCnt="0"/>
      <dgm:spPr/>
    </dgm:pt>
    <dgm:pt modelId="{C2D97E03-8BCF-4F15-AAB8-8AA22D617B69}" type="pres">
      <dgm:prSet presAssocID="{C0A6EC8D-D3A3-4FEF-898C-C382C52E110B}" presName="LevelOneTextNode" presStyleLbl="node0" presStyleIdx="0" presStyleCnt="1">
        <dgm:presLayoutVars>
          <dgm:chPref val="3"/>
        </dgm:presLayoutVars>
      </dgm:prSet>
      <dgm:spPr/>
    </dgm:pt>
    <dgm:pt modelId="{40EAFD7C-100E-49E1-B8C5-C036138AC745}" type="pres">
      <dgm:prSet presAssocID="{C0A6EC8D-D3A3-4FEF-898C-C382C52E110B}" presName="level2hierChild" presStyleCnt="0"/>
      <dgm:spPr/>
    </dgm:pt>
    <dgm:pt modelId="{7E77FBC3-8F93-45A4-851A-9D1FAEA80D9F}" type="pres">
      <dgm:prSet presAssocID="{1B17FB15-52D1-4E7C-ABB6-73FF366B8171}" presName="conn2-1" presStyleLbl="parChTrans1D2" presStyleIdx="0" presStyleCnt="2"/>
      <dgm:spPr/>
    </dgm:pt>
    <dgm:pt modelId="{507659B4-AB40-4CBA-A12D-A92CFF2CAF8C}" type="pres">
      <dgm:prSet presAssocID="{1B17FB15-52D1-4E7C-ABB6-73FF366B8171}" presName="connTx" presStyleLbl="parChTrans1D2" presStyleIdx="0" presStyleCnt="2"/>
      <dgm:spPr/>
    </dgm:pt>
    <dgm:pt modelId="{CDD3E884-3241-4E7F-9303-F1295AEC7F80}" type="pres">
      <dgm:prSet presAssocID="{72AE958A-D101-4D20-BB95-99E7292BF29D}" presName="root2" presStyleCnt="0"/>
      <dgm:spPr/>
    </dgm:pt>
    <dgm:pt modelId="{9BC830DC-6B0F-4B64-A5FD-B39995C875BB}" type="pres">
      <dgm:prSet presAssocID="{72AE958A-D101-4D20-BB95-99E7292BF29D}" presName="LevelTwoTextNode" presStyleLbl="node2" presStyleIdx="0" presStyleCnt="2">
        <dgm:presLayoutVars>
          <dgm:chPref val="3"/>
        </dgm:presLayoutVars>
      </dgm:prSet>
      <dgm:spPr/>
    </dgm:pt>
    <dgm:pt modelId="{875C71CF-522A-4058-88BA-4B639EAE54D6}" type="pres">
      <dgm:prSet presAssocID="{72AE958A-D101-4D20-BB95-99E7292BF29D}" presName="level3hierChild" presStyleCnt="0"/>
      <dgm:spPr/>
    </dgm:pt>
    <dgm:pt modelId="{CDF29DB2-A7D9-4530-B682-44AAAF34FAF9}" type="pres">
      <dgm:prSet presAssocID="{CE89819A-AC39-4A22-BF39-AF2B2BEA6221}" presName="conn2-1" presStyleLbl="parChTrans1D2" presStyleIdx="1" presStyleCnt="2"/>
      <dgm:spPr/>
    </dgm:pt>
    <dgm:pt modelId="{849BF0A5-4490-4465-8129-631D6A1F64D9}" type="pres">
      <dgm:prSet presAssocID="{CE89819A-AC39-4A22-BF39-AF2B2BEA6221}" presName="connTx" presStyleLbl="parChTrans1D2" presStyleIdx="1" presStyleCnt="2"/>
      <dgm:spPr/>
    </dgm:pt>
    <dgm:pt modelId="{003C150B-B17E-4AD9-8A05-EA2DA6635ABA}" type="pres">
      <dgm:prSet presAssocID="{C2C38FB7-A9A3-458F-9744-363DE81C9F85}" presName="root2" presStyleCnt="0"/>
      <dgm:spPr/>
    </dgm:pt>
    <dgm:pt modelId="{BBBA0C6A-164A-4189-8BD4-192DF182921A}" type="pres">
      <dgm:prSet presAssocID="{C2C38FB7-A9A3-458F-9744-363DE81C9F85}" presName="LevelTwoTextNode" presStyleLbl="node2" presStyleIdx="1" presStyleCnt="2">
        <dgm:presLayoutVars>
          <dgm:chPref val="3"/>
        </dgm:presLayoutVars>
      </dgm:prSet>
      <dgm:spPr/>
    </dgm:pt>
    <dgm:pt modelId="{4958B895-3794-44AF-A853-5BFD82022156}" type="pres">
      <dgm:prSet presAssocID="{C2C38FB7-A9A3-458F-9744-363DE81C9F85}" presName="level3hierChild" presStyleCnt="0"/>
      <dgm:spPr/>
    </dgm:pt>
  </dgm:ptLst>
  <dgm:cxnLst>
    <dgm:cxn modelId="{3DECE841-A343-4B8D-8AC6-70966DD4B7B7}" srcId="{D645A3D4-87D7-4569-8764-080BEDCB47C9}" destId="{C0A6EC8D-D3A3-4FEF-898C-C382C52E110B}" srcOrd="0" destOrd="0" parTransId="{B741E9DA-2190-4291-A466-2E876DD0C660}" sibTransId="{444C7848-C408-4D39-BE98-C2722A2BA13B}"/>
    <dgm:cxn modelId="{0FCA9F42-3C15-4DF8-A549-7A2789060355}" type="presOf" srcId="{CE89819A-AC39-4A22-BF39-AF2B2BEA6221}" destId="{849BF0A5-4490-4465-8129-631D6A1F64D9}" srcOrd="1" destOrd="0" presId="urn:microsoft.com/office/officeart/2005/8/layout/hierarchy2"/>
    <dgm:cxn modelId="{106AD173-4968-4508-AE0B-851748098872}" srcId="{C0A6EC8D-D3A3-4FEF-898C-C382C52E110B}" destId="{C2C38FB7-A9A3-458F-9744-363DE81C9F85}" srcOrd="1" destOrd="0" parTransId="{CE89819A-AC39-4A22-BF39-AF2B2BEA6221}" sibTransId="{972A77B3-E800-40D1-B0DA-8DDD7B71FF8F}"/>
    <dgm:cxn modelId="{B307A67C-70D8-4C5D-82D8-03B4051CF387}" type="presOf" srcId="{C0A6EC8D-D3A3-4FEF-898C-C382C52E110B}" destId="{C2D97E03-8BCF-4F15-AAB8-8AA22D617B69}" srcOrd="0" destOrd="0" presId="urn:microsoft.com/office/officeart/2005/8/layout/hierarchy2"/>
    <dgm:cxn modelId="{2A1B0781-D9E7-420D-9D86-87C623BB10D9}" type="presOf" srcId="{1B17FB15-52D1-4E7C-ABB6-73FF366B8171}" destId="{507659B4-AB40-4CBA-A12D-A92CFF2CAF8C}" srcOrd="1" destOrd="0" presId="urn:microsoft.com/office/officeart/2005/8/layout/hierarchy2"/>
    <dgm:cxn modelId="{F0032C8B-1E3E-4600-8540-E8B8B99D125F}" type="presOf" srcId="{CE89819A-AC39-4A22-BF39-AF2B2BEA6221}" destId="{CDF29DB2-A7D9-4530-B682-44AAAF34FAF9}" srcOrd="0" destOrd="0" presId="urn:microsoft.com/office/officeart/2005/8/layout/hierarchy2"/>
    <dgm:cxn modelId="{4127BC96-E637-4D75-9565-62AFA1EEE5F0}" type="presOf" srcId="{C2C38FB7-A9A3-458F-9744-363DE81C9F85}" destId="{BBBA0C6A-164A-4189-8BD4-192DF182921A}" srcOrd="0" destOrd="0" presId="urn:microsoft.com/office/officeart/2005/8/layout/hierarchy2"/>
    <dgm:cxn modelId="{CF25C4AC-4FBE-4D04-AAB9-7BE11E08B0F7}" srcId="{C0A6EC8D-D3A3-4FEF-898C-C382C52E110B}" destId="{72AE958A-D101-4D20-BB95-99E7292BF29D}" srcOrd="0" destOrd="0" parTransId="{1B17FB15-52D1-4E7C-ABB6-73FF366B8171}" sibTransId="{4F2ABE1D-012F-4E76-A74E-DABB3863B9AB}"/>
    <dgm:cxn modelId="{DABBC4C0-CF84-41C6-97F0-57131DDF372B}" type="presOf" srcId="{D645A3D4-87D7-4569-8764-080BEDCB47C9}" destId="{14195CEF-B829-4DB9-BA55-34B8D67E9AF3}" srcOrd="0" destOrd="0" presId="urn:microsoft.com/office/officeart/2005/8/layout/hierarchy2"/>
    <dgm:cxn modelId="{F51394D3-689A-4326-819F-29B662C3A632}" type="presOf" srcId="{72AE958A-D101-4D20-BB95-99E7292BF29D}" destId="{9BC830DC-6B0F-4B64-A5FD-B39995C875BB}" srcOrd="0" destOrd="0" presId="urn:microsoft.com/office/officeart/2005/8/layout/hierarchy2"/>
    <dgm:cxn modelId="{25A17CD4-2C58-4724-A1C3-A51E9B975A69}" type="presOf" srcId="{1B17FB15-52D1-4E7C-ABB6-73FF366B8171}" destId="{7E77FBC3-8F93-45A4-851A-9D1FAEA80D9F}" srcOrd="0" destOrd="0" presId="urn:microsoft.com/office/officeart/2005/8/layout/hierarchy2"/>
    <dgm:cxn modelId="{D00D4213-A513-4BDB-911E-625DC78351FE}" type="presParOf" srcId="{14195CEF-B829-4DB9-BA55-34B8D67E9AF3}" destId="{C079EB05-D266-4A02-A32B-540A7EB3300A}" srcOrd="0" destOrd="0" presId="urn:microsoft.com/office/officeart/2005/8/layout/hierarchy2"/>
    <dgm:cxn modelId="{9913A7FF-89F2-439B-99A5-4BF6B281C170}" type="presParOf" srcId="{C079EB05-D266-4A02-A32B-540A7EB3300A}" destId="{C2D97E03-8BCF-4F15-AAB8-8AA22D617B69}" srcOrd="0" destOrd="0" presId="urn:microsoft.com/office/officeart/2005/8/layout/hierarchy2"/>
    <dgm:cxn modelId="{656E6364-6EE9-42D0-B8F9-E2212E4825A8}" type="presParOf" srcId="{C079EB05-D266-4A02-A32B-540A7EB3300A}" destId="{40EAFD7C-100E-49E1-B8C5-C036138AC745}" srcOrd="1" destOrd="0" presId="urn:microsoft.com/office/officeart/2005/8/layout/hierarchy2"/>
    <dgm:cxn modelId="{74FB4832-EB66-44AA-8272-E01FD3BB295C}" type="presParOf" srcId="{40EAFD7C-100E-49E1-B8C5-C036138AC745}" destId="{7E77FBC3-8F93-45A4-851A-9D1FAEA80D9F}" srcOrd="0" destOrd="0" presId="urn:microsoft.com/office/officeart/2005/8/layout/hierarchy2"/>
    <dgm:cxn modelId="{7EBBE30F-5931-449D-9E4C-0A0BD7762925}" type="presParOf" srcId="{7E77FBC3-8F93-45A4-851A-9D1FAEA80D9F}" destId="{507659B4-AB40-4CBA-A12D-A92CFF2CAF8C}" srcOrd="0" destOrd="0" presId="urn:microsoft.com/office/officeart/2005/8/layout/hierarchy2"/>
    <dgm:cxn modelId="{DA0135B5-8C41-4AA3-8575-EEEE01560CAD}" type="presParOf" srcId="{40EAFD7C-100E-49E1-B8C5-C036138AC745}" destId="{CDD3E884-3241-4E7F-9303-F1295AEC7F80}" srcOrd="1" destOrd="0" presId="urn:microsoft.com/office/officeart/2005/8/layout/hierarchy2"/>
    <dgm:cxn modelId="{C3787A81-3ADB-4E97-A48E-42C354A65627}" type="presParOf" srcId="{CDD3E884-3241-4E7F-9303-F1295AEC7F80}" destId="{9BC830DC-6B0F-4B64-A5FD-B39995C875BB}" srcOrd="0" destOrd="0" presId="urn:microsoft.com/office/officeart/2005/8/layout/hierarchy2"/>
    <dgm:cxn modelId="{F069575A-7925-4FD1-86AE-354C58AF7730}" type="presParOf" srcId="{CDD3E884-3241-4E7F-9303-F1295AEC7F80}" destId="{875C71CF-522A-4058-88BA-4B639EAE54D6}" srcOrd="1" destOrd="0" presId="urn:microsoft.com/office/officeart/2005/8/layout/hierarchy2"/>
    <dgm:cxn modelId="{3CC5DF8A-4956-4396-9F36-8E9E08DB4692}" type="presParOf" srcId="{40EAFD7C-100E-49E1-B8C5-C036138AC745}" destId="{CDF29DB2-A7D9-4530-B682-44AAAF34FAF9}" srcOrd="2" destOrd="0" presId="urn:microsoft.com/office/officeart/2005/8/layout/hierarchy2"/>
    <dgm:cxn modelId="{7E73D9D3-BE59-4A2F-BD64-D9C99034702D}" type="presParOf" srcId="{CDF29DB2-A7D9-4530-B682-44AAAF34FAF9}" destId="{849BF0A5-4490-4465-8129-631D6A1F64D9}" srcOrd="0" destOrd="0" presId="urn:microsoft.com/office/officeart/2005/8/layout/hierarchy2"/>
    <dgm:cxn modelId="{9D60768D-AF61-4D76-A649-7BD04F3514E6}" type="presParOf" srcId="{40EAFD7C-100E-49E1-B8C5-C036138AC745}" destId="{003C150B-B17E-4AD9-8A05-EA2DA6635ABA}" srcOrd="3" destOrd="0" presId="urn:microsoft.com/office/officeart/2005/8/layout/hierarchy2"/>
    <dgm:cxn modelId="{5E72E498-64A6-497B-AA1E-508477478A1C}" type="presParOf" srcId="{003C150B-B17E-4AD9-8A05-EA2DA6635ABA}" destId="{BBBA0C6A-164A-4189-8BD4-192DF182921A}" srcOrd="0" destOrd="0" presId="urn:microsoft.com/office/officeart/2005/8/layout/hierarchy2"/>
    <dgm:cxn modelId="{2F43C757-E735-4D6A-88F2-318F737CA53B}" type="presParOf" srcId="{003C150B-B17E-4AD9-8A05-EA2DA6635ABA}" destId="{4958B895-3794-44AF-A853-5BFD8202215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97E03-8BCF-4F15-AAB8-8AA22D617B69}">
      <dsp:nvSpPr>
        <dsp:cNvPr id="0" name=""/>
        <dsp:cNvSpPr/>
      </dsp:nvSpPr>
      <dsp:spPr>
        <a:xfrm>
          <a:off x="374" y="637838"/>
          <a:ext cx="1477306" cy="738653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traps</a:t>
          </a:r>
          <a:endParaRPr lang="zh-CN" altLang="en-US" sz="4800" kern="1200" dirty="0"/>
        </a:p>
      </dsp:txBody>
      <dsp:txXfrm>
        <a:off x="22008" y="659472"/>
        <a:ext cx="1434038" cy="695385"/>
      </dsp:txXfrm>
    </dsp:sp>
    <dsp:sp modelId="{7E77FBC3-8F93-45A4-851A-9D1FAEA80D9F}">
      <dsp:nvSpPr>
        <dsp:cNvPr id="0" name=""/>
        <dsp:cNvSpPr/>
      </dsp:nvSpPr>
      <dsp:spPr>
        <a:xfrm rot="19457599">
          <a:off x="1409280" y="761799"/>
          <a:ext cx="727723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727723" y="330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754948" y="776609"/>
        <a:ext cx="36386" cy="36386"/>
      </dsp:txXfrm>
    </dsp:sp>
    <dsp:sp modelId="{9BC830DC-6B0F-4B64-A5FD-B39995C875BB}">
      <dsp:nvSpPr>
        <dsp:cNvPr id="0" name=""/>
        <dsp:cNvSpPr/>
      </dsp:nvSpPr>
      <dsp:spPr>
        <a:xfrm>
          <a:off x="2068603" y="213112"/>
          <a:ext cx="1477306" cy="738653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exceptions  &amp; </a:t>
          </a:r>
          <a:r>
            <a:rPr lang="en-US" altLang="zh-CN" sz="2000" kern="1200" dirty="0" err="1"/>
            <a:t>ecalls</a:t>
          </a:r>
          <a:endParaRPr lang="zh-CN" altLang="en-US" sz="2000" kern="1200" dirty="0"/>
        </a:p>
      </dsp:txBody>
      <dsp:txXfrm>
        <a:off x="2090237" y="234746"/>
        <a:ext cx="1434038" cy="695385"/>
      </dsp:txXfrm>
    </dsp:sp>
    <dsp:sp modelId="{CDF29DB2-A7D9-4530-B682-44AAAF34FAF9}">
      <dsp:nvSpPr>
        <dsp:cNvPr id="0" name=""/>
        <dsp:cNvSpPr/>
      </dsp:nvSpPr>
      <dsp:spPr>
        <a:xfrm rot="2142401">
          <a:off x="1409280" y="1186524"/>
          <a:ext cx="727723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727723" y="330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754948" y="1201334"/>
        <a:ext cx="36386" cy="36386"/>
      </dsp:txXfrm>
    </dsp:sp>
    <dsp:sp modelId="{BBBA0C6A-164A-4189-8BD4-192DF182921A}">
      <dsp:nvSpPr>
        <dsp:cNvPr id="0" name=""/>
        <dsp:cNvSpPr/>
      </dsp:nvSpPr>
      <dsp:spPr>
        <a:xfrm>
          <a:off x="2068603" y="1062563"/>
          <a:ext cx="1477306" cy="738653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interrupts</a:t>
          </a:r>
          <a:endParaRPr lang="zh-CN" altLang="en-US" sz="2600" kern="1200" dirty="0"/>
        </a:p>
      </dsp:txBody>
      <dsp:txXfrm>
        <a:off x="2090237" y="1084197"/>
        <a:ext cx="1434038" cy="6953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8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160.62993" units="1/cm"/>
          <inkml:channelProperty channel="Y" name="resolution" value="85.2071" units="1/cm"/>
          <inkml:channelProperty channel="T" name="resolution" value="1" units="1/dev"/>
        </inkml:channelProperties>
      </inkml:inkSource>
      <inkml:timestamp xml:id="ts0" timeString="2024-09-13T00:18:25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26725 16350 0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A563CDFA-F47C-4998-845B-A9C54A9D90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94241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AEACFA7-81E9-4A14-89D4-E8C1A256BE0C}" type="slidenum">
              <a:rPr kumimoji="0" lang="zh-CN" altLang="en-US" sz="1200">
                <a:latin typeface="Times New Roman" panose="02020603050405020304" pitchFamily="18" charset="0"/>
              </a:rPr>
              <a:pPr/>
              <a:t>1</a:t>
            </a:fld>
            <a:endParaRPr kumimoji="0"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pPr>
              <a:defRPr/>
            </a:pPr>
            <a:endParaRPr kumimoji="0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8692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8187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6475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[1] Kwon et al., Efficient Memory Management for Large Language Model Serving with </a:t>
            </a:r>
            <a:r>
              <a:rPr dirty="0" err="1"/>
              <a:t>PagedAttention</a:t>
            </a:r>
            <a:r>
              <a:rPr dirty="0"/>
              <a:t>, SOSP 2023. https://</a:t>
            </a:r>
            <a:r>
              <a:rPr dirty="0" err="1"/>
              <a:t>arxiv.org</a:t>
            </a:r>
            <a:r>
              <a:rPr dirty="0"/>
              <a:t>/abs/2309.06180 and https://</a:t>
            </a:r>
            <a:r>
              <a:rPr dirty="0" err="1"/>
              <a:t>doi.org</a:t>
            </a:r>
            <a:r>
              <a:rPr dirty="0"/>
              <a:t>/10.1145/3600006.3613165 . Paging and copy-on-write are OS ideas applied to GPU KV-cache management, rather than a claim that this is kernel virtual-memory paging. Throughput comparison is against </a:t>
            </a:r>
            <a:r>
              <a:rPr dirty="0" err="1"/>
              <a:t>FasterTransformer</a:t>
            </a:r>
            <a:r>
              <a:rPr dirty="0"/>
              <a:t> and Orca at similar latency in the evaluated workloads.</a:t>
            </a:r>
          </a:p>
          <a:p>
            <a:r>
              <a:rPr dirty="0"/>
              <a:t>[2] Sun et al., </a:t>
            </a:r>
            <a:r>
              <a:rPr dirty="0" err="1"/>
              <a:t>Llumnix</a:t>
            </a:r>
            <a:r>
              <a:rPr dirty="0"/>
              <a:t>: Dynamic Scheduling for Large Language Model Serving, OSDI 2024. https://</a:t>
            </a:r>
            <a:r>
              <a:rPr dirty="0" err="1"/>
              <a:t>www.usenix.org</a:t>
            </a:r>
            <a:r>
              <a:rPr dirty="0"/>
              <a:t>/conference/osdi24/presentation/sun-</a:t>
            </a:r>
            <a:r>
              <a:rPr dirty="0" err="1"/>
              <a:t>biao</a:t>
            </a:r>
            <a:r>
              <a:rPr dirty="0"/>
              <a:t> . Runtime request rescheduling and live migration balance load and differentiate priorities/SLOs.</a:t>
            </a:r>
          </a:p>
          <a:p>
            <a:r>
              <a:rPr dirty="0"/>
              <a:t>[3] </a:t>
            </a:r>
            <a:r>
              <a:rPr dirty="0" err="1"/>
              <a:t>Cvetković</a:t>
            </a:r>
            <a:r>
              <a:rPr dirty="0"/>
              <a:t> et al., </a:t>
            </a:r>
            <a:r>
              <a:rPr dirty="0" err="1"/>
              <a:t>Dirigent</a:t>
            </a:r>
            <a:r>
              <a:rPr dirty="0"/>
              <a:t>: Lightweight Serverless Orchestration, SOSP 2024. https://</a:t>
            </a:r>
            <a:r>
              <a:rPr dirty="0" err="1"/>
              <a:t>anakli.inf.ethz.ch</a:t>
            </a:r>
            <a:r>
              <a:rPr dirty="0"/>
              <a:t>/papers/dirigent_sosp24.pdf . Supports </a:t>
            </a:r>
            <a:r>
              <a:rPr dirty="0" err="1"/>
              <a:t>containerd</a:t>
            </a:r>
            <a:r>
              <a:rPr dirty="0"/>
              <a:t> and Firecracker sandboxes. Reported rate: 2,500 sandbox starts per second. Simplifying state management and removing persistence from the latency-critical path reduce orchestration overhead.</a:t>
            </a:r>
          </a:p>
          <a:p>
            <a:r>
              <a:rPr dirty="0"/>
              <a:t>The reported results use different metrics and are not directly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[1] Shan Yu et al. Prism: Cost-Efficient Multi-LLM Serving via GPU Memory Ballooning. OSDI 2026, July, pp. 75–93. https://</a:t>
            </a:r>
            <a:r>
              <a:rPr dirty="0" err="1"/>
              <a:t>www.usenix.org</a:t>
            </a:r>
            <a:r>
              <a:rPr dirty="0"/>
              <a:t>/conference/osdi26/presentation/</a:t>
            </a:r>
            <a:r>
              <a:rPr dirty="0" err="1"/>
              <a:t>yu-shan</a:t>
            </a:r>
            <a:r>
              <a:rPr dirty="0"/>
              <a:t> . Applies memory ballooning to reclaim memory across models and unify spatial and temporal sharing for </a:t>
            </a:r>
            <a:r>
              <a:rPr dirty="0" err="1"/>
              <a:t>bursty</a:t>
            </a:r>
            <a:r>
              <a:rPr dirty="0"/>
              <a:t> demand. The </a:t>
            </a:r>
            <a:r>
              <a:rPr dirty="0" err="1"/>
              <a:t>kvcached</a:t>
            </a:r>
            <a:r>
              <a:rPr dirty="0"/>
              <a:t> balloon driver is open source and reported as deployed on 10K+ GPUs. The slide describes its mechanism without claiming a quantitative speedup.</a:t>
            </a:r>
          </a:p>
          <a:p>
            <a:endParaRPr dirty="0"/>
          </a:p>
          <a:p>
            <a:r>
              <a:rPr dirty="0"/>
              <a:t>[2] </a:t>
            </a:r>
            <a:r>
              <a:rPr dirty="0" err="1"/>
              <a:t>Chaoyi</a:t>
            </a:r>
            <a:r>
              <a:rPr dirty="0"/>
              <a:t> </a:t>
            </a:r>
            <a:r>
              <a:rPr dirty="0" err="1"/>
              <a:t>Ruan</a:t>
            </a:r>
            <a:r>
              <a:rPr dirty="0"/>
              <a:t> et al. Libra: Flexible Request Partitioning and Scheduling for Serving Unbalanced and Dynamic LLM Workloads. NSDI 2026, May, pp. 1243–1258. https://</a:t>
            </a:r>
            <a:r>
              <a:rPr dirty="0" err="1"/>
              <a:t>www.usenix.org</a:t>
            </a:r>
            <a:r>
              <a:rPr dirty="0"/>
              <a:t>/conference/nsdi26/presentation/</a:t>
            </a:r>
            <a:r>
              <a:rPr dirty="0" err="1"/>
              <a:t>ruan</a:t>
            </a:r>
            <a:r>
              <a:rPr dirty="0"/>
              <a:t>-libra . Splits requests at token boundaries into micro-requests. Global scheduling chooses partition points; local GPU scheduling creates SLO-aware batches. Chunked KV-cache transfers support cross-instance execution. The abstract reports up to 1.91× and 1.61× goodput versus </a:t>
            </a:r>
            <a:r>
              <a:rPr dirty="0" err="1"/>
              <a:t>colocated</a:t>
            </a:r>
            <a:r>
              <a:rPr dirty="0"/>
              <a:t> and disaggregated baselines on real-world traces with A100/H100 GPUs. Goodput means useful throughput meeting service-level latency targets, rather than raw throughput.</a:t>
            </a:r>
          </a:p>
          <a:p>
            <a:endParaRPr dirty="0"/>
          </a:p>
          <a:p>
            <a:r>
              <a:rPr dirty="0"/>
              <a:t>[3] </a:t>
            </a:r>
            <a:r>
              <a:rPr dirty="0" err="1"/>
              <a:t>Yanbo</a:t>
            </a:r>
            <a:r>
              <a:rPr dirty="0"/>
              <a:t> Zhou et al. Break On Through to the Other Side: Pooling Memory Elastically with </a:t>
            </a:r>
            <a:r>
              <a:rPr dirty="0" err="1"/>
              <a:t>RamRyder</a:t>
            </a:r>
            <a:r>
              <a:rPr dirty="0"/>
              <a:t>. OSDI 2026, July, pp. 95–113. https://</a:t>
            </a:r>
            <a:r>
              <a:rPr dirty="0" err="1"/>
              <a:t>www.usenix.org</a:t>
            </a:r>
            <a:r>
              <a:rPr dirty="0"/>
              <a:t>/conference/osdi26/presentation/</a:t>
            </a:r>
            <a:r>
              <a:rPr dirty="0" err="1"/>
              <a:t>zhou-yanbo</a:t>
            </a:r>
            <a:r>
              <a:rPr dirty="0"/>
              <a:t> . Controls guest OS page-to-memory-channel mapping to allocate memory capacity and bandwidth mostly independently and isolate VM performance. Reports improvements in average cluster capacity and bandwidth utilization by 28.6% and 43.2%, respectively, while delivering performance comparable to exclusive access.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MIT 6.1810 Operating System Engineering, Fall 2026: https://</a:t>
            </a:r>
            <a:r>
              <a:rPr dirty="0" err="1"/>
              <a:t>pdos.csail.mit.edu</a:t>
            </a:r>
            <a:r>
              <a:rPr dirty="0"/>
              <a:t>/6.1810/2026/ and https://</a:t>
            </a:r>
            <a:r>
              <a:rPr dirty="0" err="1"/>
              <a:t>pdos.csail.mit.edu</a:t>
            </a:r>
            <a:r>
              <a:rPr dirty="0"/>
              <a:t>/6.S081/2026/</a:t>
            </a:r>
            <a:r>
              <a:rPr dirty="0" err="1"/>
              <a:t>schedule.html</a:t>
            </a:r>
            <a:r>
              <a:rPr dirty="0"/>
              <a:t> . </a:t>
            </a:r>
          </a:p>
          <a:p>
            <a:r>
              <a:rPr dirty="0"/>
              <a:t>Official xv6 resource index: https://</a:t>
            </a:r>
            <a:r>
              <a:rPr dirty="0" err="1"/>
              <a:t>pdos.csail.mit.edu</a:t>
            </a:r>
            <a:r>
              <a:rPr dirty="0"/>
              <a:t>/6.1810/2026/xv6.html .</a:t>
            </a:r>
          </a:p>
          <a:p>
            <a:r>
              <a:rPr dirty="0"/>
              <a:t>Online book: https://</a:t>
            </a:r>
            <a:r>
              <a:rPr dirty="0" err="1"/>
              <a:t>mit-pdos.github.io</a:t>
            </a:r>
            <a:r>
              <a:rPr dirty="0"/>
              <a:t>/xv6-riscv-book/ . Authors: Russ Cox, Frans </a:t>
            </a:r>
            <a:r>
              <a:rPr dirty="0" err="1"/>
              <a:t>Kaashoek</a:t>
            </a:r>
            <a:r>
              <a:rPr dirty="0"/>
              <a:t>, Robert Morris. Describes a multicore RISC-V teaching kernel and recommends reading with code.</a:t>
            </a:r>
          </a:p>
          <a:p>
            <a:r>
              <a:rPr dirty="0"/>
              <a:t>Book source: https://</a:t>
            </a:r>
            <a:r>
              <a:rPr dirty="0" err="1"/>
              <a:t>github.com</a:t>
            </a:r>
            <a:r>
              <a:rPr dirty="0"/>
              <a:t>/</a:t>
            </a:r>
            <a:r>
              <a:rPr dirty="0" err="1"/>
              <a:t>mit-pdos</a:t>
            </a:r>
            <a:r>
              <a:rPr dirty="0"/>
              <a:t>/xv6-riscv-book .</a:t>
            </a:r>
          </a:p>
          <a:p>
            <a:r>
              <a:rPr dirty="0"/>
              <a:t>Kernel source: https://</a:t>
            </a:r>
            <a:r>
              <a:rPr dirty="0" err="1"/>
              <a:t>github.com</a:t>
            </a:r>
            <a:r>
              <a:rPr dirty="0"/>
              <a:t>/</a:t>
            </a:r>
            <a:r>
              <a:rPr dirty="0" err="1"/>
              <a:t>mit-pdos</a:t>
            </a:r>
            <a:r>
              <a:rPr dirty="0"/>
              <a:t>/xv6-riscv .</a:t>
            </a:r>
          </a:p>
          <a:p>
            <a:r>
              <a:rPr dirty="0"/>
              <a:t>Replaced the outdated 2020 text date and 2022 resource link with live resource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339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547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3867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2289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OS is program</a:t>
            </a:r>
            <a:r>
              <a:rPr lang="en-US" altLang="zh-CN" baseline="0" dirty="0"/>
              <a:t>med constructs of software tools and services that comprise the </a:t>
            </a:r>
            <a:r>
              <a:rPr lang="en-US" altLang="zh-CN" dirty="0"/>
              <a:t>Abstraction</a:t>
            </a:r>
            <a:r>
              <a:rPr lang="en-US" altLang="zh-CN" baseline="0" dirty="0"/>
              <a:t> of a computer!</a:t>
            </a:r>
          </a:p>
          <a:p>
            <a:r>
              <a:rPr lang="en-US" altLang="zh-CN" baseline="0" dirty="0"/>
              <a:t>Let’s talk </a:t>
            </a:r>
            <a:r>
              <a:rPr lang="en-US" altLang="zh-CN" baseline="0"/>
              <a:t>about Abstraction…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0285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7530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Interrupt ahead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5630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注意区分术语上区别</a:t>
            </a:r>
            <a:r>
              <a:rPr lang="en-US" altLang="zh-CN" dirty="0"/>
              <a:t>!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4784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CC28EE-EC77-4BEC-9781-97CAEC6FE7F1}" type="slidenum">
              <a:rPr kumimoji="0" lang="zh-CN" altLang="en-US" sz="1200">
                <a:latin typeface="Times New Roman" panose="02020603050405020304" pitchFamily="18" charset="0"/>
              </a:rPr>
              <a:pPr/>
              <a:t>32</a:t>
            </a:fld>
            <a:endParaRPr kumimoji="0"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kumimoji="0"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Last sentence: modify table entry to include interrupt.</a:t>
            </a:r>
            <a:endParaRPr kumimoji="0"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0955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Intel Core CPUs are multicore, and thus support SMP.</a:t>
            </a:r>
          </a:p>
          <a:p>
            <a:r>
              <a:rPr lang="en-US" altLang="zh-CN" dirty="0"/>
              <a:t>Some processors can support both SMP and AMP operating modes.</a:t>
            </a:r>
          </a:p>
          <a:p>
            <a:r>
              <a:rPr lang="en-US" altLang="zh-CN" b="0" i="0" dirty="0">
                <a:solidFill>
                  <a:srgbClr val="262626"/>
                </a:solidFill>
                <a:effectLst/>
                <a:latin typeface="intel-clear"/>
              </a:rPr>
              <a:t>Some processors allow you to have two cores running an SMP and the other two cores running an AMP.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66754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NUMA is something different with SMP.</a:t>
            </a:r>
          </a:p>
          <a:p>
            <a:r>
              <a:rPr lang="en-US" altLang="zh-CN" dirty="0"/>
              <a:t>Q: NUMA</a:t>
            </a:r>
            <a:r>
              <a:rPr lang="zh-CN" altLang="en-US" dirty="0"/>
              <a:t>的内存为什么</a:t>
            </a:r>
            <a:r>
              <a:rPr lang="en-US" altLang="zh-CN" dirty="0"/>
              <a:t>non-uniform?</a:t>
            </a:r>
          </a:p>
          <a:p>
            <a:r>
              <a:rPr lang="en-US" altLang="zh-CN" b="1" dirty="0"/>
              <a:t>Example: Intel Xeon (</a:t>
            </a:r>
            <a:r>
              <a:rPr lang="zh-CN" altLang="en-US" b="1" dirty="0"/>
              <a:t>至强</a:t>
            </a:r>
            <a:r>
              <a:rPr lang="en-US" altLang="zh-CN" b="1" dirty="0"/>
              <a:t>) Scalable Processors</a:t>
            </a:r>
            <a:r>
              <a:rPr lang="en-US" altLang="zh-CN" dirty="0"/>
              <a:t> (such as the Intel Xeon Gold or Platinum series). These processors are used in multi-socket configurations, typically 2-socket, 4-socket, or even 8-socket systems. Different sockets are connected to different processors.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85816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65302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Introduce “Isolation”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22518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Trap: A software interrupt. The interrupt can be caused either by an error (e.g., division by zero or invalid memory access) or by a specific request from a user program that an operating-system service be performed.</a:t>
            </a:r>
          </a:p>
          <a:p>
            <a:endParaRPr lang="en-US" altLang="zh-CN" dirty="0"/>
          </a:p>
          <a:p>
            <a:r>
              <a:rPr lang="en-US" altLang="zh-CN" dirty="0"/>
              <a:t>Q: can interrupt run in user mode?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10315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Abstraction</a:t>
            </a:r>
            <a:r>
              <a:rPr lang="en-US" altLang="zh-CN" baseline="0" dirty="0"/>
              <a:t> -&gt; Great programmer convenience and strong isolation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Q: How about </a:t>
            </a:r>
            <a:r>
              <a:rPr lang="en-US" altLang="zh-CN" dirty="0" err="1"/>
              <a:t>syscalls</a:t>
            </a:r>
            <a:r>
              <a:rPr lang="en-US" altLang="zh-CN" dirty="0"/>
              <a:t> implemented as libraries? Each APP may even have </a:t>
            </a:r>
          </a:p>
          <a:p>
            <a:r>
              <a:rPr lang="en-US" altLang="zh-CN" dirty="0"/>
              <a:t>its own library implementation.</a:t>
            </a:r>
          </a:p>
          <a:p>
            <a:endParaRPr lang="en-US" altLang="zh-CN" dirty="0"/>
          </a:p>
          <a:p>
            <a:r>
              <a:rPr lang="en-US" altLang="zh-CN" dirty="0"/>
              <a:t>APPs must be cooperative! But if APPs don’t trust each</a:t>
            </a:r>
            <a:r>
              <a:rPr lang="en-US" altLang="zh-CN" baseline="0" dirty="0"/>
              <a:t> other, STRONGER ISOLATION needed.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Abstraction: Open, Read/Write, Close </a:t>
            </a:r>
            <a:r>
              <a:rPr lang="en-US" altLang="zh-CN" baseline="0" dirty="0" err="1"/>
              <a:t>syscalls</a:t>
            </a:r>
            <a:r>
              <a:rPr lang="en-US" altLang="zh-CN" baseline="0" dirty="0"/>
              <a:t> vs. disk read/write directly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Save and restore registers transparently.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Exec </a:t>
            </a:r>
            <a:r>
              <a:rPr lang="en-US" altLang="zh-CN" baseline="0" dirty="0" err="1"/>
              <a:t>syscall</a:t>
            </a:r>
            <a:r>
              <a:rPr lang="en-US" altLang="zh-CN" baseline="0" dirty="0"/>
              <a:t> builds memory image of a process. If memory is lacking, store to disk!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38675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summary, caller-saved registers are volatile across function calls, meaning the caller is responsible for saving their values, while callee-saved registers are preserved across function calls, with the callee ensuring their values are restored.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3CDFA-F47C-4998-845B-A9C54A9D9002}" type="slidenum">
              <a:rPr lang="zh-CN" altLang="en-US" smtClean="0"/>
              <a:pPr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2439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Monotype Sorts" charset="0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857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3145" y="503601"/>
            <a:ext cx="10769600" cy="6096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3145" y="1495829"/>
            <a:ext cx="10769600" cy="44831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/>
            </a:lvl1pPr>
            <a:lvl2pPr marL="742950" indent="-285750">
              <a:buFont typeface="Wingdings" panose="05000000000000000000" pitchFamily="2" charset="2"/>
              <a:buChar char="n"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7958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90243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00484"/>
            <a:ext cx="107696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58409" y="1468330"/>
            <a:ext cx="4798483" cy="44831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 sz="2800"/>
            </a:lvl1pPr>
            <a:lvl2pPr marL="742950" indent="-285750">
              <a:buFont typeface="Wingdings" panose="05000000000000000000" pitchFamily="2" charset="2"/>
              <a:buChar char="n"/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92604" y="1475205"/>
            <a:ext cx="5091395" cy="44831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 sz="2800"/>
            </a:lvl1pPr>
            <a:lvl2pPr marL="742950" indent="-285750">
              <a:buFont typeface="Wingdings" panose="05000000000000000000" pitchFamily="2" charset="2"/>
              <a:buChar char="n"/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3528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22514"/>
            <a:ext cx="10972800" cy="69439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749080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49936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37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0907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52801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914400" y="1282700"/>
            <a:ext cx="10821546" cy="50630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526248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91600" y="228600"/>
            <a:ext cx="2692400" cy="5537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914400" y="228600"/>
            <a:ext cx="7874000" cy="5537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15585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282699"/>
            <a:ext cx="10769600" cy="5008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dirty="0"/>
              <a:t>Click to edit Master text styles</a:t>
            </a:r>
          </a:p>
          <a:p>
            <a:pPr marL="742950" lvl="1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5762154" y="6613526"/>
            <a:ext cx="44755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zh-CN" sz="1000" b="1">
                <a:solidFill>
                  <a:srgbClr val="993300"/>
                </a:solidFill>
              </a:rPr>
              <a:t>1.</a:t>
            </a:r>
            <a:fld id="{08F5AFFF-5BB8-4371-9B01-E7687D906F2D}" type="slidenum">
              <a:rPr kumimoji="0" lang="en-US" altLang="zh-CN" sz="1000" b="1">
                <a:solidFill>
                  <a:srgbClr val="993300"/>
                </a:solidFill>
              </a:rPr>
              <a:pPr algn="ctr">
                <a:spcBef>
                  <a:spcPct val="50000"/>
                </a:spcBef>
              </a:pPr>
              <a:t>‹#›</a:t>
            </a:fld>
            <a:endParaRPr kumimoji="0" lang="en-US" altLang="zh-CN" sz="1000" b="1">
              <a:solidFill>
                <a:srgbClr val="993300"/>
              </a:solidFill>
            </a:endParaRP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28600"/>
            <a:ext cx="10769600" cy="60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9" name="Freeform 5"/>
          <p:cNvSpPr>
            <a:spLocks/>
          </p:cNvSpPr>
          <p:nvPr/>
        </p:nvSpPr>
        <p:spPr bwMode="auto">
          <a:xfrm rot="8361210" flipV="1">
            <a:off x="2146301" y="4962525"/>
            <a:ext cx="12700" cy="1588"/>
          </a:xfrm>
          <a:custGeom>
            <a:avLst/>
            <a:gdLst>
              <a:gd name="T0" fmla="*/ 4536281 w 20"/>
              <a:gd name="T1" fmla="*/ 630436 h 4"/>
              <a:gd name="T2" fmla="*/ 0 w 20"/>
              <a:gd name="T3" fmla="*/ 0 h 4"/>
              <a:gd name="T4" fmla="*/ 3629025 w 20"/>
              <a:gd name="T5" fmla="*/ 0 h 4"/>
              <a:gd name="T6" fmla="*/ 4536281 w 20"/>
              <a:gd name="T7" fmla="*/ 630436 h 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" h="4">
                <a:moveTo>
                  <a:pt x="20" y="4"/>
                </a:moveTo>
                <a:lnTo>
                  <a:pt x="0" y="0"/>
                </a:lnTo>
                <a:lnTo>
                  <a:pt x="16" y="0"/>
                </a:lnTo>
                <a:lnTo>
                  <a:pt x="2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Freeform 6"/>
          <p:cNvSpPr>
            <a:spLocks/>
          </p:cNvSpPr>
          <p:nvPr/>
        </p:nvSpPr>
        <p:spPr bwMode="auto">
          <a:xfrm rot="10665470" flipV="1">
            <a:off x="1585384" y="4205289"/>
            <a:ext cx="6349" cy="1587"/>
          </a:xfrm>
          <a:custGeom>
            <a:avLst/>
            <a:gdLst>
              <a:gd name="T0" fmla="*/ 1889720 w 12"/>
              <a:gd name="T1" fmla="*/ 629642 h 4"/>
              <a:gd name="T2" fmla="*/ 0 w 12"/>
              <a:gd name="T3" fmla="*/ 0 h 4"/>
              <a:gd name="T4" fmla="*/ 1889720 w 12"/>
              <a:gd name="T5" fmla="*/ 0 h 4"/>
              <a:gd name="T6" fmla="*/ 1889720 w 12"/>
              <a:gd name="T7" fmla="*/ 629642 h 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" h="4">
                <a:moveTo>
                  <a:pt x="12" y="4"/>
                </a:moveTo>
                <a:lnTo>
                  <a:pt x="0" y="0"/>
                </a:lnTo>
                <a:lnTo>
                  <a:pt x="12" y="0"/>
                </a:lnTo>
                <a:lnTo>
                  <a:pt x="1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" name="Freeform 7"/>
          <p:cNvSpPr>
            <a:spLocks/>
          </p:cNvSpPr>
          <p:nvPr/>
        </p:nvSpPr>
        <p:spPr bwMode="auto">
          <a:xfrm>
            <a:off x="6885518" y="4206876"/>
            <a:ext cx="10583" cy="9525"/>
          </a:xfrm>
          <a:custGeom>
            <a:avLst/>
            <a:gdLst>
              <a:gd name="T0" fmla="*/ 3062359 w 12"/>
              <a:gd name="T1" fmla="*/ 7560469 h 12"/>
              <a:gd name="T2" fmla="*/ 0 w 12"/>
              <a:gd name="T3" fmla="*/ 6300788 h 12"/>
              <a:gd name="T4" fmla="*/ 5249664 w 12"/>
              <a:gd name="T5" fmla="*/ 0 h 12"/>
              <a:gd name="T6" fmla="*/ 3062359 w 12"/>
              <a:gd name="T7" fmla="*/ 7560469 h 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" h="12">
                <a:moveTo>
                  <a:pt x="7" y="12"/>
                </a:moveTo>
                <a:lnTo>
                  <a:pt x="0" y="10"/>
                </a:lnTo>
                <a:lnTo>
                  <a:pt x="12" y="0"/>
                </a:lnTo>
                <a:lnTo>
                  <a:pt x="7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8652933" y="6586380"/>
            <a:ext cx="353906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0" lang="en-US" altLang="zh-CN" sz="1000" b="1" dirty="0">
                <a:solidFill>
                  <a:srgbClr val="993300"/>
                </a:solidFill>
              </a:rPr>
              <a:t>@ZJU</a:t>
            </a:r>
          </a:p>
        </p:txBody>
      </p:sp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0" y="6613526"/>
            <a:ext cx="134844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1000" b="1" dirty="0">
                <a:solidFill>
                  <a:srgbClr val="993300"/>
                </a:solidFill>
              </a:rPr>
              <a:t>Operating Systems</a:t>
            </a:r>
          </a:p>
        </p:txBody>
      </p:sp>
      <p:sp>
        <p:nvSpPr>
          <p:cNvPr id="1034" name="Freeform 10"/>
          <p:cNvSpPr>
            <a:spLocks/>
          </p:cNvSpPr>
          <p:nvPr/>
        </p:nvSpPr>
        <p:spPr bwMode="auto">
          <a:xfrm>
            <a:off x="-2211917" y="1109664"/>
            <a:ext cx="6351" cy="1587"/>
          </a:xfrm>
          <a:custGeom>
            <a:avLst/>
            <a:gdLst>
              <a:gd name="T0" fmla="*/ 1745090 w 13"/>
              <a:gd name="T1" fmla="*/ 0 h 1587"/>
              <a:gd name="T2" fmla="*/ 0 w 13"/>
              <a:gd name="T3" fmla="*/ 0 h 1587"/>
              <a:gd name="T4" fmla="*/ 939777 w 13"/>
              <a:gd name="T5" fmla="*/ 0 h 1587"/>
              <a:gd name="T6" fmla="*/ 1745090 w 13"/>
              <a:gd name="T7" fmla="*/ 0 h 158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" h="1587">
                <a:moveTo>
                  <a:pt x="13" y="0"/>
                </a:moveTo>
                <a:lnTo>
                  <a:pt x="0" y="0"/>
                </a:lnTo>
                <a:lnTo>
                  <a:pt x="7" y="0"/>
                </a:lnTo>
                <a:lnTo>
                  <a:pt x="1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" name="Freeform 11"/>
          <p:cNvSpPr>
            <a:spLocks/>
          </p:cNvSpPr>
          <p:nvPr/>
        </p:nvSpPr>
        <p:spPr bwMode="auto">
          <a:xfrm>
            <a:off x="-1198033" y="1169989"/>
            <a:ext cx="4233" cy="1587"/>
          </a:xfrm>
          <a:custGeom>
            <a:avLst/>
            <a:gdLst>
              <a:gd name="T0" fmla="*/ 0 w 10"/>
              <a:gd name="T1" fmla="*/ 0 h 1587"/>
              <a:gd name="T2" fmla="*/ 1008063 w 10"/>
              <a:gd name="T3" fmla="*/ 0 h 1587"/>
              <a:gd name="T4" fmla="*/ 604838 w 10"/>
              <a:gd name="T5" fmla="*/ 0 h 1587"/>
              <a:gd name="T6" fmla="*/ 0 w 10"/>
              <a:gd name="T7" fmla="*/ 0 h 158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" h="1587">
                <a:moveTo>
                  <a:pt x="0" y="0"/>
                </a:moveTo>
                <a:lnTo>
                  <a:pt x="10" y="0"/>
                </a:ln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-1972733" y="423864"/>
            <a:ext cx="2116" cy="15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1037" name="Freeform 13"/>
          <p:cNvSpPr>
            <a:spLocks/>
          </p:cNvSpPr>
          <p:nvPr/>
        </p:nvSpPr>
        <p:spPr bwMode="auto">
          <a:xfrm>
            <a:off x="-1955800" y="889000"/>
            <a:ext cx="8467" cy="1588"/>
          </a:xfrm>
          <a:custGeom>
            <a:avLst/>
            <a:gdLst>
              <a:gd name="T0" fmla="*/ 0 w 18"/>
              <a:gd name="T1" fmla="*/ 360249 h 7"/>
              <a:gd name="T2" fmla="*/ 1493308 w 18"/>
              <a:gd name="T3" fmla="*/ 0 h 7"/>
              <a:gd name="T4" fmla="*/ 2240139 w 18"/>
              <a:gd name="T5" fmla="*/ 0 h 7"/>
              <a:gd name="T6" fmla="*/ 0 w 18"/>
              <a:gd name="T7" fmla="*/ 360249 h 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8" h="7">
                <a:moveTo>
                  <a:pt x="0" y="7"/>
                </a:moveTo>
                <a:lnTo>
                  <a:pt x="12" y="0"/>
                </a:lnTo>
                <a:lnTo>
                  <a:pt x="18" y="0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" name="Freeform 14"/>
          <p:cNvSpPr>
            <a:spLocks/>
          </p:cNvSpPr>
          <p:nvPr/>
        </p:nvSpPr>
        <p:spPr bwMode="auto">
          <a:xfrm>
            <a:off x="-2186517" y="1144588"/>
            <a:ext cx="2117" cy="6350"/>
          </a:xfrm>
          <a:custGeom>
            <a:avLst/>
            <a:gdLst>
              <a:gd name="T0" fmla="*/ 0 w 6"/>
              <a:gd name="T1" fmla="*/ 2520156 h 16"/>
              <a:gd name="T2" fmla="*/ 420291 w 6"/>
              <a:gd name="T3" fmla="*/ 0 h 16"/>
              <a:gd name="T4" fmla="*/ 210145 w 6"/>
              <a:gd name="T5" fmla="*/ 2047478 h 16"/>
              <a:gd name="T6" fmla="*/ 0 w 6"/>
              <a:gd name="T7" fmla="*/ 2520156 h 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" h="16">
                <a:moveTo>
                  <a:pt x="0" y="16"/>
                </a:moveTo>
                <a:lnTo>
                  <a:pt x="6" y="0"/>
                </a:lnTo>
                <a:lnTo>
                  <a:pt x="3" y="13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" name="Freeform 15"/>
          <p:cNvSpPr>
            <a:spLocks/>
          </p:cNvSpPr>
          <p:nvPr/>
        </p:nvSpPr>
        <p:spPr bwMode="auto">
          <a:xfrm>
            <a:off x="-1663700" y="1146175"/>
            <a:ext cx="6349" cy="7938"/>
          </a:xfrm>
          <a:custGeom>
            <a:avLst/>
            <a:gdLst>
              <a:gd name="T0" fmla="*/ 1499164 w 11"/>
              <a:gd name="T1" fmla="*/ 3150592 h 20"/>
              <a:gd name="T2" fmla="*/ 0 w 11"/>
              <a:gd name="T3" fmla="*/ 0 h 20"/>
              <a:gd name="T4" fmla="*/ 2061513 w 11"/>
              <a:gd name="T5" fmla="*/ 2520315 h 20"/>
              <a:gd name="T6" fmla="*/ 1499164 w 11"/>
              <a:gd name="T7" fmla="*/ 3150592 h 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" h="20">
                <a:moveTo>
                  <a:pt x="8" y="20"/>
                </a:moveTo>
                <a:lnTo>
                  <a:pt x="0" y="0"/>
                </a:lnTo>
                <a:lnTo>
                  <a:pt x="11" y="16"/>
                </a:lnTo>
                <a:lnTo>
                  <a:pt x="8" y="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Freeform 16"/>
          <p:cNvSpPr>
            <a:spLocks/>
          </p:cNvSpPr>
          <p:nvPr/>
        </p:nvSpPr>
        <p:spPr bwMode="auto">
          <a:xfrm>
            <a:off x="-1468966" y="1228725"/>
            <a:ext cx="2116" cy="6350"/>
          </a:xfrm>
          <a:custGeom>
            <a:avLst/>
            <a:gdLst>
              <a:gd name="T0" fmla="*/ 0 w 7"/>
              <a:gd name="T1" fmla="*/ 2880179 h 14"/>
              <a:gd name="T2" fmla="*/ 359796 w 7"/>
              <a:gd name="T3" fmla="*/ 0 h 14"/>
              <a:gd name="T4" fmla="*/ 359796 w 7"/>
              <a:gd name="T5" fmla="*/ 1440089 h 14"/>
              <a:gd name="T6" fmla="*/ 0 w 7"/>
              <a:gd name="T7" fmla="*/ 2880179 h 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" h="14">
                <a:moveTo>
                  <a:pt x="0" y="14"/>
                </a:moveTo>
                <a:lnTo>
                  <a:pt x="7" y="0"/>
                </a:lnTo>
                <a:lnTo>
                  <a:pt x="7" y="7"/>
                </a:lnTo>
                <a:lnTo>
                  <a:pt x="0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" name="Freeform 17"/>
          <p:cNvSpPr>
            <a:spLocks/>
          </p:cNvSpPr>
          <p:nvPr/>
        </p:nvSpPr>
        <p:spPr bwMode="auto">
          <a:xfrm>
            <a:off x="-1737784" y="1270000"/>
            <a:ext cx="16933" cy="1588"/>
          </a:xfrm>
          <a:custGeom>
            <a:avLst/>
            <a:gdLst>
              <a:gd name="T0" fmla="*/ 0 w 30"/>
              <a:gd name="T1" fmla="*/ 840581 h 3"/>
              <a:gd name="T2" fmla="*/ 2688167 w 30"/>
              <a:gd name="T3" fmla="*/ 0 h 3"/>
              <a:gd name="T4" fmla="*/ 5376333 w 30"/>
              <a:gd name="T5" fmla="*/ 0 h 3"/>
              <a:gd name="T6" fmla="*/ 0 w 30"/>
              <a:gd name="T7" fmla="*/ 840581 h 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0" h="3">
                <a:moveTo>
                  <a:pt x="0" y="3"/>
                </a:moveTo>
                <a:lnTo>
                  <a:pt x="15" y="0"/>
                </a:lnTo>
                <a:lnTo>
                  <a:pt x="30" y="0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" name="Freeform 18"/>
          <p:cNvSpPr>
            <a:spLocks/>
          </p:cNvSpPr>
          <p:nvPr/>
        </p:nvSpPr>
        <p:spPr bwMode="auto">
          <a:xfrm>
            <a:off x="1568451" y="885826"/>
            <a:ext cx="6349" cy="9525"/>
          </a:xfrm>
          <a:custGeom>
            <a:avLst/>
            <a:gdLst>
              <a:gd name="T0" fmla="*/ 0 w 9"/>
              <a:gd name="T1" fmla="*/ 3780234 h 24"/>
              <a:gd name="T2" fmla="*/ 2519627 w 9"/>
              <a:gd name="T3" fmla="*/ 0 h 24"/>
              <a:gd name="T4" fmla="*/ 1679928 w 9"/>
              <a:gd name="T5" fmla="*/ 2677716 h 24"/>
              <a:gd name="T6" fmla="*/ 0 w 9"/>
              <a:gd name="T7" fmla="*/ 3780234 h 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" h="24">
                <a:moveTo>
                  <a:pt x="0" y="24"/>
                </a:moveTo>
                <a:lnTo>
                  <a:pt x="9" y="0"/>
                </a:lnTo>
                <a:lnTo>
                  <a:pt x="6" y="17"/>
                </a:lnTo>
                <a:lnTo>
                  <a:pt x="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9933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宋体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993300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  <a:ea typeface="宋体" charset="0"/>
          <a:cs typeface="宋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993300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  <a:ea typeface="宋体" charset="0"/>
          <a:cs typeface="宋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993300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  <a:ea typeface="宋体" charset="0"/>
          <a:cs typeface="宋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993300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  <a:ea typeface="宋体" charset="0"/>
          <a:cs typeface="宋体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993300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  <a:ea typeface="宋体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993300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  <a:ea typeface="宋体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993300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  <a:ea typeface="宋体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993300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  <a:ea typeface="宋体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 lang="en-US" altLang="zh-CN" dirty="0">
          <a:solidFill>
            <a:schemeClr val="tx1"/>
          </a:solidFill>
          <a:latin typeface="+mn-lt"/>
          <a:ea typeface="+mn-ea"/>
          <a:cs typeface="宋体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 lang="en-US" altLang="zh-CN" dirty="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+mn-ea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9.0618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nakli.inf.ethz.ch/papers/dirigent_sosp24.pdf" TargetMode="External"/><Relationship Id="rId4" Type="http://schemas.openxmlformats.org/officeDocument/2006/relationships/hyperlink" Target="https://www.usenix.org/conference/osdi24/presentation/sun-biao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enix.org/conference/osdi26/presentation/yu-sha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usenix.org/conference/osdi26/presentation/zhou-yanbo" TargetMode="External"/><Relationship Id="rId4" Type="http://schemas.openxmlformats.org/officeDocument/2006/relationships/hyperlink" Target="https://www.usenix.org/conference/nsdi26/presentation/ruan-libr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courses.zju.edu.cn/" TargetMode="External"/><Relationship Id="rId5" Type="http://schemas.openxmlformats.org/officeDocument/2006/relationships/hyperlink" Target="https://pages.cs.wisc.edu/~remzi/OSTEP/" TargetMode="External"/><Relationship Id="rId4" Type="http://schemas.openxmlformats.org/officeDocument/2006/relationships/hyperlink" Target="https://www.os-book.com/OS1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dos.csail.mit.edu/6.1810/2026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mit-pdos/xv6-riscv" TargetMode="External"/><Relationship Id="rId5" Type="http://schemas.openxmlformats.org/officeDocument/2006/relationships/hyperlink" Target="https://github.com/mit-pdos/xv6-riscv-book" TargetMode="External"/><Relationship Id="rId4" Type="http://schemas.openxmlformats.org/officeDocument/2006/relationships/hyperlink" Target="https://mit-pdos.github.io/xv6-riscv-book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courses.zju.edu.c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.zju.edu.cn/os/fa26/shoulidan/os-" TargetMode="External"/><Relationship Id="rId2" Type="http://schemas.openxmlformats.org/officeDocument/2006/relationships/hyperlink" Target="https://os.pages.zjusct.io/fa26/doc-shoulidan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s.pages.zjusct.io/fa26/doc-shoulida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383662"/>
            <a:ext cx="7772400" cy="1941512"/>
          </a:xfrm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Operating Systems</a:t>
            </a:r>
            <a:b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操作系统 </a:t>
            </a:r>
            <a:r>
              <a:rPr lang="zh-CN" altLang="zh-CN" sz="2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en-US" altLang="zh-CN" sz="2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026</a:t>
            </a:r>
            <a:r>
              <a:rPr lang="zh-CN" altLang="en-US" sz="2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秋冬）</a:t>
            </a:r>
            <a:br>
              <a:rPr lang="en-US" altLang="zh-CN" sz="2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br>
              <a:rPr lang="en-US" altLang="zh-CN" sz="2400" dirty="0">
                <a:effectLst/>
                <a:latin typeface="+mn-ea"/>
                <a:ea typeface="+mn-ea"/>
              </a:rPr>
            </a:br>
            <a:r>
              <a:rPr lang="zh-CN" altLang="en-US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教四</a:t>
            </a:r>
            <a:r>
              <a:rPr lang="zh-CN" altLang="zh-CN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en-US" altLang="zh-CN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306</a:t>
            </a:r>
            <a:r>
              <a:rPr lang="zh-CN" altLang="en-US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（周</a:t>
            </a:r>
            <a:r>
              <a:rPr lang="en-US" altLang="zh-CN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9-10</a:t>
            </a:r>
            <a:r>
              <a:rPr lang="zh-CN" altLang="en-US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节，周</a:t>
            </a:r>
            <a:r>
              <a:rPr lang="en-US" altLang="zh-CN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7-8</a:t>
            </a:r>
            <a:r>
              <a:rPr lang="zh-CN" altLang="en-US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节）</a:t>
            </a:r>
            <a:br>
              <a:rPr lang="zh-CN" altLang="en-US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实验课：曹西</a:t>
            </a:r>
            <a:r>
              <a:rPr lang="en-US" altLang="zh-CN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-503</a:t>
            </a:r>
            <a:r>
              <a:rPr lang="zh-CN" altLang="en-US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（周</a:t>
            </a:r>
            <a:r>
              <a:rPr lang="en-US" altLang="zh-CN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11-12</a:t>
            </a:r>
            <a:r>
              <a:rPr lang="zh-CN" altLang="en-US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节）</a:t>
            </a:r>
            <a:r>
              <a:rPr lang="en-US" altLang="zh-CN" sz="2000" b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br>
              <a:rPr lang="en-US" altLang="zh-CN" sz="2400" b="0" dirty="0">
                <a:effectLst/>
              </a:rPr>
            </a:br>
            <a:r>
              <a:rPr lang="en-US" altLang="zh-CN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anose="02040602050305030304" pitchFamily="18" charset="0"/>
              </a:rPr>
              <a:t>Lecture 1: Overview</a:t>
            </a:r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484324" y="4514535"/>
            <a:ext cx="3223353" cy="1941512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Font typeface="Monotype Sorts" pitchFamily="-84" charset="2"/>
              <a:buNone/>
            </a:pPr>
            <a:endParaRPr lang="en-US" altLang="zh-CN" sz="2000" dirty="0">
              <a:latin typeface="Book Antiqua" panose="02040602050305030304" pitchFamily="18" charset="0"/>
            </a:endParaRPr>
          </a:p>
          <a:p>
            <a:pPr>
              <a:spcBef>
                <a:spcPct val="0"/>
              </a:spcBef>
              <a:buFont typeface="Monotype Sorts" pitchFamily="-84" charset="2"/>
              <a:buNone/>
            </a:pPr>
            <a:r>
              <a:rPr lang="en-US" altLang="zh-CN" sz="2000" dirty="0">
                <a:latin typeface="Book Antiqua" panose="02040602050305030304" pitchFamily="18" charset="0"/>
              </a:rPr>
              <a:t>Shou Lidan</a:t>
            </a:r>
            <a:endParaRPr lang="zh-CN" altLang="en-US" sz="2000" dirty="0">
              <a:latin typeface="Book Antiqua" panose="0204060205030503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Font typeface="Monotype Sorts" pitchFamily="-84" charset="2"/>
              <a:buNone/>
            </a:pPr>
            <a:r>
              <a:rPr lang="en-US" altLang="zh-CN" sz="2000" dirty="0">
                <a:latin typeface="Book Antiqua" panose="02040602050305030304" pitchFamily="18" charset="0"/>
              </a:rPr>
              <a:t>should @ zju.edu.cn</a:t>
            </a:r>
          </a:p>
          <a:p>
            <a:pPr>
              <a:spcBef>
                <a:spcPct val="0"/>
              </a:spcBef>
            </a:pPr>
            <a:endParaRPr lang="en-US" altLang="zh-CN" sz="2000" dirty="0">
              <a:latin typeface="Book Antiqua" panose="0204060205030503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860DED-9A51-459F-911A-CC31CB738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512" y="357233"/>
            <a:ext cx="1364974" cy="13649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3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6364029-A76B-4725-B6EC-3FA2129BFB33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Operating Systems: Course Overview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81CCD2-563C-46EC-AD8F-01121578644A}"/>
              </a:ext>
            </a:extLst>
          </p:cNvPr>
          <p:cNvSpPr>
            <a:spLocks noGrp="1"/>
          </p:cNvSpPr>
          <p:nvPr/>
        </p:nvSpPr>
        <p:spPr>
          <a:xfrm>
            <a:off x="742950" y="1381125"/>
            <a:ext cx="10706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400" b="0" dirty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How computers run programs and manage resources,</a:t>
            </a:r>
          </a:p>
          <a:p>
            <a:pPr>
              <a:defRPr sz="24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400" b="0" dirty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with hands-on practice in system design.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A13EA4-0D30-4BDD-9301-E9812797FE09}"/>
              </a:ext>
            </a:extLst>
          </p:cNvPr>
          <p:cNvSpPr>
            <a:spLocks noGrp="1"/>
          </p:cNvSpPr>
          <p:nvPr/>
        </p:nvSpPr>
        <p:spPr>
          <a:xfrm>
            <a:off x="742950" y="2438400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250" b="1" dirty="0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Program execution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FE370C-48D8-453F-AD1B-07D4824F875E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523875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 dirty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How do programs share processors?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 dirty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How do threads coordinate safely?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 dirty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How does virtual memory work?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 dirty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How are files stored?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 dirty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How do systems recover from crashes?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9FBFC5-779D-4BE8-B25A-574A4AC487E9}"/>
              </a:ext>
            </a:extLst>
          </p:cNvPr>
          <p:cNvSpPr>
            <a:spLocks noGrp="1"/>
          </p:cNvSpPr>
          <p:nvPr/>
        </p:nvSpPr>
        <p:spPr>
          <a:xfrm>
            <a:off x="6477000" y="2438400"/>
            <a:ext cx="50006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Software and hardware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88E027-6667-4B83-9929-6CE31F255FF5}"/>
              </a:ext>
            </a:extLst>
          </p:cNvPr>
          <p:cNvSpPr>
            <a:spLocks noGrp="1"/>
          </p:cNvSpPr>
          <p:nvPr/>
        </p:nvSpPr>
        <p:spPr>
          <a:xfrm>
            <a:off x="6477000" y="2914650"/>
            <a:ext cx="5000625" cy="1409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System calls, kernels and interrupts.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Context switches and page tables.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How apps obtain OS services.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How the OS controls hardware.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BB3ECE-9D2C-4C6D-9EDC-F9A82B83954A}"/>
              </a:ext>
            </a:extLst>
          </p:cNvPr>
          <p:cNvSpPr>
            <a:spLocks noGrp="1"/>
          </p:cNvSpPr>
          <p:nvPr/>
        </p:nvSpPr>
        <p:spPr>
          <a:xfrm>
            <a:off x="742950" y="4714875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System design and explanation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9851F1-F2E8-429C-B8B3-DBB757198460}"/>
              </a:ext>
            </a:extLst>
          </p:cNvPr>
          <p:cNvSpPr>
            <a:spLocks noGrp="1"/>
          </p:cNvSpPr>
          <p:nvPr/>
        </p:nvSpPr>
        <p:spPr>
          <a:xfrm>
            <a:off x="742950" y="5191125"/>
            <a:ext cx="52387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Build correct software, write clear code,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and explain the reasons for your design.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D8ED1A-81CB-45CA-99AB-B6F53584527F}"/>
              </a:ext>
            </a:extLst>
          </p:cNvPr>
          <p:cNvSpPr>
            <a:spLocks noGrp="1"/>
          </p:cNvSpPr>
          <p:nvPr/>
        </p:nvSpPr>
        <p:spPr>
          <a:xfrm>
            <a:off x="6477000" y="4714875"/>
            <a:ext cx="50006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Prerequisites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225946-DDC1-4480-A5D2-0B03358E74BC}"/>
              </a:ext>
            </a:extLst>
          </p:cNvPr>
          <p:cNvSpPr>
            <a:spLocks noGrp="1"/>
          </p:cNvSpPr>
          <p:nvPr/>
        </p:nvSpPr>
        <p:spPr>
          <a:xfrm>
            <a:off x="6477000" y="5191125"/>
            <a:ext cx="5000625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C programming, data structures,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basic RISC-V assembly and Linux tools.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2A60AD-B1B2-4712-B8CF-52B7E002DED5}"/>
              </a:ext>
            </a:extLst>
          </p:cNvPr>
          <p:cNvSpPr>
            <a:spLocks noGrp="1"/>
          </p:cNvSpPr>
          <p:nvPr/>
        </p:nvSpPr>
        <p:spPr>
          <a:xfrm>
            <a:off x="742950" y="605790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Enjoy hacking around!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DC117D-2C52-4C99-B119-7FC61A406447}"/>
              </a:ext>
            </a:extLst>
          </p:cNvPr>
          <p:cNvSpPr>
            <a:spLocks noGrp="1"/>
          </p:cNvSpPr>
          <p:nvPr/>
        </p:nvSpPr>
        <p:spPr>
          <a:xfrm>
            <a:off x="95250" y="6519735"/>
            <a:ext cx="3238500" cy="3429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defRPr sz="2025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1000" b="1" dirty="0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Operating Systems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977074-FC0B-4CB9-8D76-DECEB5C95C0B}"/>
              </a:ext>
            </a:extLst>
          </p:cNvPr>
          <p:cNvSpPr>
            <a:spLocks noGrp="1"/>
          </p:cNvSpPr>
          <p:nvPr/>
        </p:nvSpPr>
        <p:spPr>
          <a:xfrm>
            <a:off x="5772150" y="6457950"/>
            <a:ext cx="857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1.2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150A55-B3C4-4CF9-B39E-76A3945FA871}"/>
              </a:ext>
            </a:extLst>
          </p:cNvPr>
          <p:cNvSpPr>
            <a:spLocks noGrp="1"/>
          </p:cNvSpPr>
          <p:nvPr/>
        </p:nvSpPr>
        <p:spPr>
          <a:xfrm>
            <a:off x="11096625" y="6519735"/>
            <a:ext cx="1047750" cy="3429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defRPr sz="2025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100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@ZJU</a:t>
            </a:r>
          </a:p>
        </p:txBody>
      </p:sp>
    </p:spTree>
    <p:extLst>
      <p:ext uri="{BB962C8B-B14F-4D97-AF65-F5344CB8AC3E}">
        <p14:creationId xmlns:p14="http://schemas.microsoft.com/office/powerpoint/2010/main" val="214098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Main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Contents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9371" y="1368712"/>
            <a:ext cx="4217987" cy="4483100"/>
          </a:xfrm>
        </p:spPr>
        <p:txBody>
          <a:bodyPr/>
          <a:lstStyle/>
          <a:p>
            <a:r>
              <a:rPr lang="en-US" altLang="zh-CN" sz="2000" dirty="0"/>
              <a:t>Overview </a:t>
            </a:r>
          </a:p>
          <a:p>
            <a:pPr lvl="1"/>
            <a:r>
              <a:rPr lang="en-US" altLang="zh-CN" sz="2000" dirty="0"/>
              <a:t>Intro</a:t>
            </a:r>
          </a:p>
          <a:p>
            <a:pPr lvl="1"/>
            <a:r>
              <a:rPr lang="en-US" altLang="zh-CN" sz="2000" dirty="0"/>
              <a:t>OS structure</a:t>
            </a:r>
          </a:p>
          <a:p>
            <a:r>
              <a:rPr lang="en-US" altLang="zh-CN" sz="2000" dirty="0"/>
              <a:t>Process Management</a:t>
            </a:r>
          </a:p>
          <a:p>
            <a:pPr lvl="1"/>
            <a:r>
              <a:rPr lang="en-US" altLang="zh-CN" sz="2000" dirty="0"/>
              <a:t>Processes</a:t>
            </a:r>
          </a:p>
          <a:p>
            <a:pPr lvl="1"/>
            <a:r>
              <a:rPr lang="en-US" altLang="zh-CN" sz="2000" dirty="0"/>
              <a:t>Threads</a:t>
            </a:r>
          </a:p>
          <a:p>
            <a:pPr lvl="1"/>
            <a:r>
              <a:rPr lang="en-US" altLang="zh-CN" sz="2000" dirty="0"/>
              <a:t>CPU scheduling</a:t>
            </a:r>
          </a:p>
          <a:p>
            <a:pPr lvl="1"/>
            <a:r>
              <a:rPr lang="en-US" altLang="zh-CN" sz="2000" dirty="0"/>
              <a:t>Process Synchronization</a:t>
            </a:r>
          </a:p>
          <a:p>
            <a:pPr lvl="1"/>
            <a:r>
              <a:rPr lang="en-US" altLang="zh-CN" sz="2000" dirty="0"/>
              <a:t>Deadlocks </a:t>
            </a:r>
          </a:p>
          <a:p>
            <a:r>
              <a:rPr lang="en-US" altLang="zh-CN" sz="2000" dirty="0"/>
              <a:t>Memory Management</a:t>
            </a:r>
          </a:p>
          <a:p>
            <a:pPr lvl="1"/>
            <a:r>
              <a:rPr lang="en-US" altLang="zh-CN" sz="2000" dirty="0"/>
              <a:t>Main memory</a:t>
            </a:r>
          </a:p>
          <a:p>
            <a:pPr lvl="1"/>
            <a:r>
              <a:rPr lang="en-US" altLang="zh-CN" sz="2000" dirty="0"/>
              <a:t>Virtual memory</a:t>
            </a:r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7026466" y="1368712"/>
            <a:ext cx="3970338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+mn-lt"/>
                <a:ea typeface="+mn-ea"/>
              </a:rPr>
              <a:t>Storage Management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+mn-lt"/>
                <a:ea typeface="+mn-ea"/>
              </a:rPr>
              <a:t>File-system interface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+mn-lt"/>
                <a:ea typeface="+mn-ea"/>
              </a:rPr>
              <a:t>File-system implementation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+mn-lt"/>
                <a:ea typeface="+mn-ea"/>
              </a:rPr>
              <a:t>Mass-storage structure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+mn-lt"/>
                <a:ea typeface="+mn-ea"/>
              </a:rPr>
              <a:t>I/O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22154-FD97-B54A-9CC9-409F8BBFE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930" y="161693"/>
            <a:ext cx="8380141" cy="609600"/>
          </a:xfrm>
        </p:spPr>
        <p:txBody>
          <a:bodyPr/>
          <a:lstStyle/>
          <a:p>
            <a:r>
              <a:rPr kumimoji="1" lang="en-US" altLang="zh-CN" dirty="0"/>
              <a:t>Why</a:t>
            </a:r>
            <a:r>
              <a:rPr kumimoji="1"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OS</a:t>
            </a:r>
            <a:r>
              <a:rPr lang="zh-CN" altLang="en-US" dirty="0"/>
              <a:t> </a:t>
            </a:r>
            <a:r>
              <a:rPr lang="en-US" altLang="zh-CN" dirty="0"/>
              <a:t>still</a:t>
            </a:r>
            <a:r>
              <a:rPr lang="zh-CN" altLang="en-US" dirty="0"/>
              <a:t> </a:t>
            </a:r>
            <a:r>
              <a:rPr lang="en-US" altLang="zh-CN" dirty="0"/>
              <a:t>important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 err="1"/>
              <a:t>ChatGPT</a:t>
            </a:r>
            <a:r>
              <a:rPr lang="en-US" altLang="zh-CN" dirty="0"/>
              <a:t>-era?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7AC46B-6C0C-4947-9AE7-E4BDD70E4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775" y="1328268"/>
            <a:ext cx="6218834" cy="3934072"/>
          </a:xfrm>
        </p:spPr>
        <p:txBody>
          <a:bodyPr/>
          <a:lstStyle/>
          <a:p>
            <a:r>
              <a:rPr lang="en-US" altLang="zh-CN" sz="2000" b="1" dirty="0">
                <a:solidFill>
                  <a:srgbClr val="1A1A1A"/>
                </a:solidFill>
                <a:latin typeface="roboto" panose="02000000000000000000" pitchFamily="2" charset="0"/>
              </a:rPr>
              <a:t>There’s plenty of room at the Top: What will drive computer performance after Moore’s law?</a:t>
            </a:r>
            <a:r>
              <a:rPr lang="zh-CN" altLang="en-US" sz="2000" b="1" dirty="0">
                <a:solidFill>
                  <a:srgbClr val="1A1A1A"/>
                </a:solidFill>
                <a:latin typeface="roboto" panose="02000000000000000000" pitchFamily="2" charset="0"/>
              </a:rPr>
              <a:t> </a:t>
            </a:r>
            <a:r>
              <a:rPr lang="zh-CN" altLang="en-US" dirty="0">
                <a:solidFill>
                  <a:srgbClr val="0033CC"/>
                </a:solidFill>
              </a:rPr>
              <a:t>https://www.science.org/doi/10.1126/science.aam9744</a:t>
            </a:r>
          </a:p>
          <a:p>
            <a:pPr lvl="1"/>
            <a:r>
              <a:rPr lang="en-US" altLang="zh-CN" dirty="0"/>
              <a:t>Performance</a:t>
            </a:r>
            <a:r>
              <a:rPr lang="zh-CN" altLang="en-US" dirty="0"/>
              <a:t> </a:t>
            </a:r>
            <a:r>
              <a:rPr lang="en-US" altLang="zh-CN" dirty="0"/>
              <a:t>improved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63000x</a:t>
            </a:r>
            <a:endParaRPr lang="en-US" altLang="zh-CN" dirty="0"/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optimized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1300x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A6007F-082D-F64C-8347-5F5A86A156AF}"/>
              </a:ext>
            </a:extLst>
          </p:cNvPr>
          <p:cNvSpPr txBox="1"/>
          <p:nvPr/>
        </p:nvSpPr>
        <p:spPr>
          <a:xfrm>
            <a:off x="7372754" y="1771318"/>
            <a:ext cx="3662578" cy="13234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1600" dirty="0">
                <a:solidFill>
                  <a:srgbClr val="262626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sz="1600" dirty="0" err="1">
                <a:solidFill>
                  <a:srgbClr val="262626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262626"/>
                </a:solidFill>
                <a:latin typeface="Consolas" panose="020B0609020204030204" pitchFamily="49" charset="0"/>
              </a:rPr>
              <a:t> in </a:t>
            </a:r>
            <a:r>
              <a:rPr lang="en-US" altLang="zh-CN" sz="1600" dirty="0" err="1">
                <a:solidFill>
                  <a:srgbClr val="262626"/>
                </a:solidFill>
                <a:latin typeface="Consolas" panose="020B0609020204030204" pitchFamily="49" charset="0"/>
              </a:rPr>
              <a:t>xrange</a:t>
            </a:r>
            <a:r>
              <a:rPr lang="en-US" altLang="zh-CN" sz="1600" dirty="0">
                <a:solidFill>
                  <a:srgbClr val="262626"/>
                </a:solidFill>
                <a:latin typeface="Consolas" panose="020B0609020204030204" pitchFamily="49" charset="0"/>
              </a:rPr>
              <a:t>(4096):</a:t>
            </a:r>
          </a:p>
          <a:p>
            <a:pPr algn="l">
              <a:lnSpc>
                <a:spcPct val="125000"/>
              </a:lnSpc>
            </a:pPr>
            <a:r>
              <a:rPr lang="en-US" altLang="zh-CN" sz="1600" dirty="0">
                <a:solidFill>
                  <a:srgbClr val="262626"/>
                </a:solidFill>
                <a:latin typeface="Consolas" panose="020B0609020204030204" pitchFamily="49" charset="0"/>
              </a:rPr>
              <a:t> for j in </a:t>
            </a:r>
            <a:r>
              <a:rPr lang="en-US" altLang="zh-CN" sz="1600" dirty="0" err="1">
                <a:solidFill>
                  <a:srgbClr val="262626"/>
                </a:solidFill>
                <a:latin typeface="Consolas" panose="020B0609020204030204" pitchFamily="49" charset="0"/>
              </a:rPr>
              <a:t>xrange</a:t>
            </a:r>
            <a:r>
              <a:rPr lang="en-US" altLang="zh-CN" sz="1600" dirty="0">
                <a:solidFill>
                  <a:srgbClr val="262626"/>
                </a:solidFill>
                <a:latin typeface="Consolas" panose="020B0609020204030204" pitchFamily="49" charset="0"/>
              </a:rPr>
              <a:t>(4096):</a:t>
            </a:r>
          </a:p>
          <a:p>
            <a:pPr algn="l">
              <a:lnSpc>
                <a:spcPct val="125000"/>
              </a:lnSpc>
            </a:pPr>
            <a:r>
              <a:rPr lang="en-US" altLang="zh-CN" sz="1600" dirty="0">
                <a:solidFill>
                  <a:srgbClr val="262626"/>
                </a:solidFill>
                <a:latin typeface="Consolas" panose="020B0609020204030204" pitchFamily="49" charset="0"/>
              </a:rPr>
              <a:t>  for k in </a:t>
            </a:r>
            <a:r>
              <a:rPr lang="en-US" altLang="zh-CN" sz="1600" dirty="0" err="1">
                <a:solidFill>
                  <a:srgbClr val="262626"/>
                </a:solidFill>
                <a:latin typeface="Consolas" panose="020B0609020204030204" pitchFamily="49" charset="0"/>
              </a:rPr>
              <a:t>xrange</a:t>
            </a:r>
            <a:r>
              <a:rPr lang="en-US" altLang="zh-CN" sz="1600" dirty="0">
                <a:solidFill>
                  <a:srgbClr val="262626"/>
                </a:solidFill>
                <a:latin typeface="Consolas" panose="020B0609020204030204" pitchFamily="49" charset="0"/>
              </a:rPr>
              <a:t>(4096):</a:t>
            </a:r>
          </a:p>
          <a:p>
            <a:pPr algn="l">
              <a:lnSpc>
                <a:spcPct val="125000"/>
              </a:lnSpc>
            </a:pPr>
            <a:r>
              <a:rPr lang="en-US" altLang="zh-CN" sz="1600" dirty="0">
                <a:solidFill>
                  <a:srgbClr val="262626"/>
                </a:solidFill>
                <a:latin typeface="Consolas" panose="020B0609020204030204" pitchFamily="49" charset="0"/>
              </a:rPr>
              <a:t>   C[</a:t>
            </a:r>
            <a:r>
              <a:rPr lang="en-US" altLang="zh-CN" sz="1600" dirty="0" err="1">
                <a:solidFill>
                  <a:srgbClr val="262626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262626"/>
                </a:solidFill>
                <a:latin typeface="Consolas" panose="020B0609020204030204" pitchFamily="49" charset="0"/>
              </a:rPr>
              <a:t>][j] += A[</a:t>
            </a:r>
            <a:r>
              <a:rPr lang="en-US" altLang="zh-CN" sz="1600" dirty="0" err="1">
                <a:solidFill>
                  <a:srgbClr val="262626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262626"/>
                </a:solidFill>
                <a:latin typeface="Consolas" panose="020B0609020204030204" pitchFamily="49" charset="0"/>
              </a:rPr>
              <a:t>][k] * B[k][j]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1C352A-C961-B74B-BCD9-4151F7BCA4BF}"/>
              </a:ext>
            </a:extLst>
          </p:cNvPr>
          <p:cNvSpPr txBox="1"/>
          <p:nvPr/>
        </p:nvSpPr>
        <p:spPr>
          <a:xfrm>
            <a:off x="7194123" y="1247922"/>
            <a:ext cx="4328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u="none" strike="noStrike" dirty="0">
                <a:solidFill>
                  <a:srgbClr val="C00000"/>
                </a:solidFill>
                <a:effectLst/>
                <a:latin typeface="+mn-lt"/>
              </a:rPr>
              <a:t>multiplying two 4096-by-4096 matrices</a:t>
            </a:r>
            <a:endParaRPr lang="zh-CN" alt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E3A52E-0EFB-164A-8A45-ED365ECC7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766" y="3339539"/>
            <a:ext cx="4236042" cy="232346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6DE7BA2-5F5A-3146-B10E-C70BE136F9B7}"/>
              </a:ext>
            </a:extLst>
          </p:cNvPr>
          <p:cNvSpPr txBox="1"/>
          <p:nvPr/>
        </p:nvSpPr>
        <p:spPr>
          <a:xfrm>
            <a:off x="1276493" y="5807382"/>
            <a:ext cx="96390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+mn-lt"/>
              </a:rPr>
              <a:t>Software performance engineering, development of algorithms, and hardware streamlining at the Top can continue to make computer applications faster in the post-Moore era.</a:t>
            </a:r>
            <a:endParaRPr lang="en-US" altLang="zh-CN" b="1" i="0" u="none" strike="noStrike" dirty="0">
              <a:solidFill>
                <a:srgbClr val="1A1A1A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44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To Learn Operating Systems?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/>
              <a:t>Building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blocks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of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modern</a:t>
            </a:r>
            <a:r>
              <a:rPr kumimoji="1" lang="zh-CN" altLang="en-US" sz="2400" dirty="0"/>
              <a:t> </a:t>
            </a:r>
            <a:r>
              <a:rPr lang="en-US" altLang="zh-CN" sz="2400" dirty="0"/>
              <a:t>computer</a:t>
            </a:r>
            <a:r>
              <a:rPr lang="zh-CN" altLang="en-US" sz="2400" dirty="0"/>
              <a:t> </a:t>
            </a:r>
            <a:r>
              <a:rPr lang="en-US" altLang="zh-CN" sz="2400" dirty="0"/>
              <a:t>software</a:t>
            </a:r>
            <a:endParaRPr kumimoji="1" lang="zh-CN" altLang="en-US" sz="2400" dirty="0"/>
          </a:p>
        </p:txBody>
      </p:sp>
      <p:sp>
        <p:nvSpPr>
          <p:cNvPr id="8" name="立方体 7"/>
          <p:cNvSpPr/>
          <p:nvPr/>
        </p:nvSpPr>
        <p:spPr bwMode="auto">
          <a:xfrm>
            <a:off x="4230918" y="4546600"/>
            <a:ext cx="3236684" cy="1258956"/>
          </a:xfrm>
          <a:prstGeom prst="cube">
            <a:avLst/>
          </a:prstGeom>
          <a:solidFill>
            <a:schemeClr val="accent3">
              <a:lumMod val="90000"/>
            </a:schemeClr>
          </a:solidFill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>
              <a:latin typeface="Helvetica" charset="0"/>
              <a:ea typeface="宋体" charset="0"/>
            </a:endParaRPr>
          </a:p>
          <a:p>
            <a:pPr algn="ctr"/>
            <a:r>
              <a:rPr lang="en-US" altLang="zh-CN" dirty="0">
                <a:latin typeface="Helvetica" charset="0"/>
                <a:ea typeface="宋体" charset="0"/>
              </a:rPr>
              <a:t>System</a:t>
            </a:r>
            <a:r>
              <a:rPr lang="zh-CN" altLang="en-US" dirty="0">
                <a:latin typeface="Helvetica" charset="0"/>
                <a:ea typeface="宋体" charset="0"/>
              </a:rPr>
              <a:t> </a:t>
            </a:r>
            <a:r>
              <a:rPr lang="en-US" altLang="zh-CN" dirty="0">
                <a:latin typeface="Helvetica" charset="0"/>
                <a:ea typeface="宋体" charset="0"/>
              </a:rPr>
              <a:t>Software</a:t>
            </a:r>
            <a:endParaRPr lang="zh-CN" altLang="en-US" dirty="0">
              <a:latin typeface="Helvetica" charset="0"/>
              <a:ea typeface="宋体" charset="0"/>
            </a:endParaRPr>
          </a:p>
        </p:txBody>
      </p:sp>
      <p:sp>
        <p:nvSpPr>
          <p:cNvPr id="6" name="立方体 5"/>
          <p:cNvSpPr/>
          <p:nvPr/>
        </p:nvSpPr>
        <p:spPr bwMode="auto">
          <a:xfrm>
            <a:off x="2634344" y="3479800"/>
            <a:ext cx="3342390" cy="1258956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>
              <a:latin typeface="Helvetica" charset="0"/>
              <a:ea typeface="宋体" charset="0"/>
            </a:endParaRPr>
          </a:p>
          <a:p>
            <a:pPr algn="ctr"/>
            <a:r>
              <a:rPr lang="en-US" altLang="zh-CN" dirty="0">
                <a:latin typeface="Helvetica" charset="0"/>
                <a:ea typeface="宋体" charset="0"/>
              </a:rPr>
              <a:t>Algorithm</a:t>
            </a:r>
            <a:endParaRPr lang="zh-CN" altLang="en-US" dirty="0">
              <a:latin typeface="Helvetica" charset="0"/>
              <a:ea typeface="宋体" charset="0"/>
            </a:endParaRPr>
          </a:p>
        </p:txBody>
      </p:sp>
      <p:sp>
        <p:nvSpPr>
          <p:cNvPr id="7" name="立方体 6"/>
          <p:cNvSpPr/>
          <p:nvPr/>
        </p:nvSpPr>
        <p:spPr bwMode="auto">
          <a:xfrm>
            <a:off x="5976733" y="3479800"/>
            <a:ext cx="3342388" cy="1258956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>
              <a:latin typeface="Helvetica" charset="0"/>
              <a:ea typeface="宋体" charset="0"/>
            </a:endParaRPr>
          </a:p>
          <a:p>
            <a:pPr algn="ctr"/>
            <a:r>
              <a:rPr lang="en-US" altLang="zh-CN" dirty="0">
                <a:latin typeface="Helvetica" charset="0"/>
                <a:ea typeface="宋体" charset="0"/>
              </a:rPr>
              <a:t>Data</a:t>
            </a:r>
            <a:r>
              <a:rPr lang="zh-CN" altLang="en-US" dirty="0">
                <a:latin typeface="Helvetica" charset="0"/>
                <a:ea typeface="宋体" charset="0"/>
              </a:rPr>
              <a:t> </a:t>
            </a:r>
            <a:r>
              <a:rPr lang="en-US" altLang="zh-CN" dirty="0">
                <a:latin typeface="Helvetica" charset="0"/>
                <a:ea typeface="宋体" charset="0"/>
              </a:rPr>
              <a:t>Structure</a:t>
            </a:r>
            <a:endParaRPr lang="zh-CN" altLang="en-US" dirty="0">
              <a:latin typeface="Helvetica" charset="0"/>
              <a:ea typeface="宋体" charset="0"/>
            </a:endParaRPr>
          </a:p>
        </p:txBody>
      </p:sp>
      <p:sp>
        <p:nvSpPr>
          <p:cNvPr id="9" name="立方体 8">
            <a:extLst>
              <a:ext uri="{FF2B5EF4-FFF2-40B4-BE49-F238E27FC236}">
                <a16:creationId xmlns:a16="http://schemas.microsoft.com/office/drawing/2014/main" id="{39CDF024-499B-4C68-AC56-39044DCDC3E0}"/>
              </a:ext>
            </a:extLst>
          </p:cNvPr>
          <p:cNvSpPr/>
          <p:nvPr/>
        </p:nvSpPr>
        <p:spPr bwMode="auto">
          <a:xfrm>
            <a:off x="4230918" y="2413000"/>
            <a:ext cx="3236685" cy="1258956"/>
          </a:xfrm>
          <a:prstGeom prst="cube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>
              <a:latin typeface="Helvetica" charset="0"/>
              <a:ea typeface="宋体" charset="0"/>
            </a:endParaRPr>
          </a:p>
          <a:p>
            <a:pPr algn="ctr"/>
            <a:r>
              <a:rPr lang="en-US" altLang="zh-CN" dirty="0">
                <a:latin typeface="Helvetica" charset="0"/>
                <a:ea typeface="宋体" charset="0"/>
              </a:rPr>
              <a:t>Applications</a:t>
            </a:r>
            <a:endParaRPr lang="zh-CN" altLang="en-US" dirty="0">
              <a:latin typeface="Helvetica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979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AC0C3048-3799-4F2C-A35C-2BE78F5ED287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OS Ideas in AI and Cloud Computing</a:t>
            </a:r>
          </a:p>
        </p:txBody>
      </p:sp>
      <p:sp>
        <p:nvSpPr>
          <p:cNvPr id="2" name="link-2-1">
            <a:extLst>
              <a:ext uri="{FF2B5EF4-FFF2-40B4-BE49-F238E27FC236}">
                <a16:creationId xmlns:a16="http://schemas.microsoft.com/office/drawing/2014/main" id="{BBF11515-7CCC-44FE-AEA8-D354502D375A}"/>
              </a:ext>
            </a:extLst>
          </p:cNvPr>
          <p:cNvSpPr>
            <a:spLocks noGrp="1"/>
          </p:cNvSpPr>
          <p:nvPr/>
        </p:nvSpPr>
        <p:spPr>
          <a:xfrm>
            <a:off x="742950" y="1467105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850" b="1">
                <a:solidFill>
                  <a:srgbClr val="993300"/>
                </a:solidFill>
                <a:latin typeface="Helvetica"/>
                <a:ea typeface="Helvetica"/>
                <a:cs typeface="Helvetica"/>
                <a:hlinkClick r:id="rId3"/>
              </a:rPr>
              <a:t>vLLM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345DD3-5B4C-4FBF-A9CE-63F7642E7BB7}"/>
              </a:ext>
            </a:extLst>
          </p:cNvPr>
          <p:cNvSpPr>
            <a:spLocks noGrp="1"/>
          </p:cNvSpPr>
          <p:nvPr/>
        </p:nvSpPr>
        <p:spPr>
          <a:xfrm>
            <a:off x="742950" y="1971930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475B66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475B66"/>
                </a:solidFill>
                <a:latin typeface="Helvetica"/>
                <a:ea typeface="Helvetica"/>
                <a:cs typeface="Helvetica"/>
              </a:rPr>
              <a:t>SOSP 2023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141801-17D6-48BC-9734-C6E187DD0579}"/>
              </a:ext>
            </a:extLst>
          </p:cNvPr>
          <p:cNvSpPr>
            <a:spLocks noGrp="1"/>
          </p:cNvSpPr>
          <p:nvPr/>
        </p:nvSpPr>
        <p:spPr>
          <a:xfrm>
            <a:off x="742950" y="2600580"/>
            <a:ext cx="31908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Virtual memory and paging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CE0109-FD61-48C7-B48D-A2E81F2E8C9D}"/>
              </a:ext>
            </a:extLst>
          </p:cNvPr>
          <p:cNvSpPr>
            <a:spLocks noGrp="1"/>
          </p:cNvSpPr>
          <p:nvPr/>
        </p:nvSpPr>
        <p:spPr>
          <a:xfrm>
            <a:off x="742950" y="3400680"/>
            <a:ext cx="3190875" cy="1400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Stores GPU KV-cache in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noncontiguous blocks.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Shares blocks with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copy-on-write.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29C774-3830-4382-B7E6-2AC64A92D6DC}"/>
              </a:ext>
            </a:extLst>
          </p:cNvPr>
          <p:cNvSpPr>
            <a:spLocks noGrp="1"/>
          </p:cNvSpPr>
          <p:nvPr/>
        </p:nvSpPr>
        <p:spPr>
          <a:xfrm>
            <a:off x="742950" y="4934205"/>
            <a:ext cx="31908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2–4× throughput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919759-D408-4381-8E1D-A6F7922A7EE8}"/>
              </a:ext>
            </a:extLst>
          </p:cNvPr>
          <p:cNvSpPr>
            <a:spLocks noGrp="1"/>
          </p:cNvSpPr>
          <p:nvPr/>
        </p:nvSpPr>
        <p:spPr>
          <a:xfrm>
            <a:off x="742950" y="5496180"/>
            <a:ext cx="3190875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At similar latency versus</a:t>
            </a:r>
          </a:p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FasterTransformer / Orca</a:t>
            </a:r>
          </a:p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in evaluated workloads.</a:t>
            </a:r>
          </a:p>
        </p:txBody>
      </p:sp>
      <p:sp>
        <p:nvSpPr>
          <p:cNvPr id="8" name="link-2-7">
            <a:extLst>
              <a:ext uri="{FF2B5EF4-FFF2-40B4-BE49-F238E27FC236}">
                <a16:creationId xmlns:a16="http://schemas.microsoft.com/office/drawing/2014/main" id="{1F36A29E-FC36-44F7-ACDC-088A70D68EB8}"/>
              </a:ext>
            </a:extLst>
          </p:cNvPr>
          <p:cNvSpPr>
            <a:spLocks noGrp="1"/>
          </p:cNvSpPr>
          <p:nvPr/>
        </p:nvSpPr>
        <p:spPr>
          <a:xfrm>
            <a:off x="4524375" y="1467105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850" b="1">
                <a:solidFill>
                  <a:srgbClr val="993300"/>
                </a:solidFill>
                <a:latin typeface="Helvetica"/>
                <a:ea typeface="Helvetica"/>
                <a:cs typeface="Helvetica"/>
                <a:hlinkClick r:id="rId4"/>
              </a:rPr>
              <a:t>Llumnix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EFA9E0-100D-462E-9712-ECCF5F3C3EBD}"/>
              </a:ext>
            </a:extLst>
          </p:cNvPr>
          <p:cNvSpPr>
            <a:spLocks noGrp="1"/>
          </p:cNvSpPr>
          <p:nvPr/>
        </p:nvSpPr>
        <p:spPr>
          <a:xfrm>
            <a:off x="4524375" y="1971930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475B66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475B66"/>
                </a:solidFill>
                <a:latin typeface="Helvetica"/>
                <a:ea typeface="Helvetica"/>
                <a:cs typeface="Helvetica"/>
              </a:rPr>
              <a:t>OSDI 2024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0A4D3E-B259-4B2E-8B89-4DC923B92B7C}"/>
              </a:ext>
            </a:extLst>
          </p:cNvPr>
          <p:cNvSpPr>
            <a:spLocks noGrp="1"/>
          </p:cNvSpPr>
          <p:nvPr/>
        </p:nvSpPr>
        <p:spPr>
          <a:xfrm>
            <a:off x="4524375" y="2600580"/>
            <a:ext cx="31908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Scheduling and migration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D6671C-DE12-45EC-A2B6-462294848183}"/>
              </a:ext>
            </a:extLst>
          </p:cNvPr>
          <p:cNvSpPr>
            <a:spLocks noGrp="1"/>
          </p:cNvSpPr>
          <p:nvPr/>
        </p:nvSpPr>
        <p:spPr>
          <a:xfrm>
            <a:off x="4524375" y="3400680"/>
            <a:ext cx="3190875" cy="1400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Reschedules requests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across model instances.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Migrates request states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to rebalance the load.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9A3184-02BC-4CBB-80B5-7592B1EC7C03}"/>
              </a:ext>
            </a:extLst>
          </p:cNvPr>
          <p:cNvSpPr>
            <a:spLocks noGrp="1"/>
          </p:cNvSpPr>
          <p:nvPr/>
        </p:nvSpPr>
        <p:spPr>
          <a:xfrm>
            <a:off x="4524375" y="4934205"/>
            <a:ext cx="31908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Lower tail latency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443634-CA86-4743-9EF0-1574CF45716C}"/>
              </a:ext>
            </a:extLst>
          </p:cNvPr>
          <p:cNvSpPr>
            <a:spLocks noGrp="1"/>
          </p:cNvSpPr>
          <p:nvPr/>
        </p:nvSpPr>
        <p:spPr>
          <a:xfrm>
            <a:off x="4524375" y="5496180"/>
            <a:ext cx="3190875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Balances load and honors</a:t>
            </a:r>
          </a:p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request priorities and</a:t>
            </a:r>
          </a:p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latency requirements.</a:t>
            </a:r>
          </a:p>
        </p:txBody>
      </p:sp>
      <p:sp>
        <p:nvSpPr>
          <p:cNvPr id="14" name="link-2-13">
            <a:extLst>
              <a:ext uri="{FF2B5EF4-FFF2-40B4-BE49-F238E27FC236}">
                <a16:creationId xmlns:a16="http://schemas.microsoft.com/office/drawing/2014/main" id="{E767F1ED-AC1A-42C3-898D-EF9EFB552DF8}"/>
              </a:ext>
            </a:extLst>
          </p:cNvPr>
          <p:cNvSpPr>
            <a:spLocks noGrp="1"/>
          </p:cNvSpPr>
          <p:nvPr/>
        </p:nvSpPr>
        <p:spPr>
          <a:xfrm>
            <a:off x="8305800" y="1467105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850" b="1">
                <a:solidFill>
                  <a:srgbClr val="993300"/>
                </a:solidFill>
                <a:latin typeface="Helvetica"/>
                <a:ea typeface="Helvetica"/>
                <a:cs typeface="Helvetica"/>
                <a:hlinkClick r:id="rId5"/>
              </a:rPr>
              <a:t>Dirigent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7C5928-CD91-4F87-94B5-3A36ECC74DA5}"/>
              </a:ext>
            </a:extLst>
          </p:cNvPr>
          <p:cNvSpPr>
            <a:spLocks noGrp="1"/>
          </p:cNvSpPr>
          <p:nvPr/>
        </p:nvSpPr>
        <p:spPr>
          <a:xfrm>
            <a:off x="8305800" y="1971930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475B66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475B66"/>
                </a:solidFill>
                <a:latin typeface="Helvetica"/>
                <a:ea typeface="Helvetica"/>
                <a:cs typeface="Helvetica"/>
              </a:rPr>
              <a:t>SOSP 2024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F79354-A0EA-4956-9811-9B8BDFEC8BFE}"/>
              </a:ext>
            </a:extLst>
          </p:cNvPr>
          <p:cNvSpPr>
            <a:spLocks noGrp="1"/>
          </p:cNvSpPr>
          <p:nvPr/>
        </p:nvSpPr>
        <p:spPr>
          <a:xfrm>
            <a:off x="8305800" y="2600580"/>
            <a:ext cx="31908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Sandboxes and scheduling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315200-AC7C-4BEC-A485-3E741F1F6287}"/>
              </a:ext>
            </a:extLst>
          </p:cNvPr>
          <p:cNvSpPr>
            <a:spLocks noGrp="1"/>
          </p:cNvSpPr>
          <p:nvPr/>
        </p:nvSpPr>
        <p:spPr>
          <a:xfrm>
            <a:off x="8305800" y="3400680"/>
            <a:ext cx="3190875" cy="1400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Runs cloud functions in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containerd or Firecracker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sandboxes. Simplifies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scheduling and scaling.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06FD8A-144E-45C0-AFA1-065D092DEAE2}"/>
              </a:ext>
            </a:extLst>
          </p:cNvPr>
          <p:cNvSpPr>
            <a:spLocks noGrp="1"/>
          </p:cNvSpPr>
          <p:nvPr/>
        </p:nvSpPr>
        <p:spPr>
          <a:xfrm>
            <a:off x="8305800" y="4934205"/>
            <a:ext cx="31908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2,500 starts/s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B60EDC-8350-476F-BF58-D85C31B47F1D}"/>
              </a:ext>
            </a:extLst>
          </p:cNvPr>
          <p:cNvSpPr>
            <a:spLocks noGrp="1"/>
          </p:cNvSpPr>
          <p:nvPr/>
        </p:nvSpPr>
        <p:spPr>
          <a:xfrm>
            <a:off x="8305800" y="5496180"/>
            <a:ext cx="3190875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Sandbox startup rate</a:t>
            </a:r>
          </a:p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in evaluated workloads.</a:t>
            </a:r>
          </a:p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Lower scheduling latency.</a:t>
            </a:r>
          </a:p>
        </p:txBody>
      </p:sp>
    </p:spTree>
    <p:extLst>
      <p:ext uri="{BB962C8B-B14F-4D97-AF65-F5344CB8AC3E}">
        <p14:creationId xmlns:p14="http://schemas.microsoft.com/office/powerpoint/2010/main" val="1685001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CF5C960-B60C-4193-9D7D-D99AEF35185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OS Ideas in AI and Cloud: 2026 Studies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32D7B8-094B-4950-BDEB-80F767C471E8}"/>
              </a:ext>
            </a:extLst>
          </p:cNvPr>
          <p:cNvSpPr>
            <a:spLocks noGrp="1"/>
          </p:cNvSpPr>
          <p:nvPr/>
        </p:nvSpPr>
        <p:spPr>
          <a:xfrm>
            <a:off x="742950" y="1417677"/>
            <a:ext cx="31908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850" b="1">
                <a:solidFill>
                  <a:srgbClr val="993300"/>
                </a:solidFill>
                <a:latin typeface="Helvetica"/>
                <a:ea typeface="Helvetica"/>
                <a:cs typeface="Helvetica"/>
                <a:hlinkClick r:id="rId3"/>
              </a:rPr>
              <a:t>Prism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20600A-508F-4537-BEC5-57067A2A83AC}"/>
              </a:ext>
            </a:extLst>
          </p:cNvPr>
          <p:cNvSpPr>
            <a:spLocks noGrp="1"/>
          </p:cNvSpPr>
          <p:nvPr/>
        </p:nvSpPr>
        <p:spPr>
          <a:xfrm>
            <a:off x="742950" y="1922502"/>
            <a:ext cx="31908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475B66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475B66"/>
                </a:solidFill>
                <a:latin typeface="Helvetica"/>
                <a:ea typeface="Helvetica"/>
                <a:cs typeface="Helvetica"/>
              </a:rPr>
              <a:t>OSDI 2026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E740C0-B1C9-4158-9C4A-FC429EC1081D}"/>
              </a:ext>
            </a:extLst>
          </p:cNvPr>
          <p:cNvSpPr>
            <a:spLocks noGrp="1"/>
          </p:cNvSpPr>
          <p:nvPr/>
        </p:nvSpPr>
        <p:spPr>
          <a:xfrm>
            <a:off x="742950" y="2551152"/>
            <a:ext cx="31908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GPU memory ballooning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AAC3788-4C1D-437A-8AF2-EFD3683BDAE6}"/>
              </a:ext>
            </a:extLst>
          </p:cNvPr>
          <p:cNvSpPr>
            <a:spLocks noGrp="1"/>
          </p:cNvSpPr>
          <p:nvPr/>
        </p:nvSpPr>
        <p:spPr>
          <a:xfrm>
            <a:off x="742950" y="3351252"/>
            <a:ext cx="3190875" cy="1400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Reclaims memory across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models. Combines space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and time sharing for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bursty LLM workloads.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D60F5A-ACF5-4AD7-8F21-5EFE00C1DE9A}"/>
              </a:ext>
            </a:extLst>
          </p:cNvPr>
          <p:cNvSpPr>
            <a:spLocks noGrp="1"/>
          </p:cNvSpPr>
          <p:nvPr/>
        </p:nvSpPr>
        <p:spPr>
          <a:xfrm>
            <a:off x="742950" y="4884777"/>
            <a:ext cx="31908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Memory reuse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BA3E77-09FD-490E-8721-E1B306A0CE24}"/>
              </a:ext>
            </a:extLst>
          </p:cNvPr>
          <p:cNvSpPr>
            <a:spLocks noGrp="1"/>
          </p:cNvSpPr>
          <p:nvPr/>
        </p:nvSpPr>
        <p:spPr>
          <a:xfrm>
            <a:off x="742950" y="5446752"/>
            <a:ext cx="3190875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Adapts model co-serving</a:t>
            </a:r>
          </a:p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to changing demand</a:t>
            </a:r>
          </a:p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with elastic allocation.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691E18-92DE-4B91-9D80-06E706402531}"/>
              </a:ext>
            </a:extLst>
          </p:cNvPr>
          <p:cNvSpPr>
            <a:spLocks noGrp="1"/>
          </p:cNvSpPr>
          <p:nvPr/>
        </p:nvSpPr>
        <p:spPr>
          <a:xfrm>
            <a:off x="4524375" y="1417677"/>
            <a:ext cx="31908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850" b="1">
                <a:solidFill>
                  <a:srgbClr val="993300"/>
                </a:solidFill>
                <a:latin typeface="Helvetica"/>
                <a:ea typeface="Helvetica"/>
                <a:cs typeface="Helvetica"/>
                <a:hlinkClick r:id="rId4"/>
              </a:rPr>
              <a:t>Libra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D09ECF-2A94-4CFD-BB0B-FDB3287E81E0}"/>
              </a:ext>
            </a:extLst>
          </p:cNvPr>
          <p:cNvSpPr>
            <a:spLocks noGrp="1"/>
          </p:cNvSpPr>
          <p:nvPr/>
        </p:nvSpPr>
        <p:spPr>
          <a:xfrm>
            <a:off x="4524375" y="1922502"/>
            <a:ext cx="31908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475B66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475B66"/>
                </a:solidFill>
                <a:latin typeface="Helvetica"/>
                <a:ea typeface="Helvetica"/>
                <a:cs typeface="Helvetica"/>
              </a:rPr>
              <a:t>NSDI 2026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015F35-C714-4CC7-96A2-268EC4684B3D}"/>
              </a:ext>
            </a:extLst>
          </p:cNvPr>
          <p:cNvSpPr>
            <a:spLocks noGrp="1"/>
          </p:cNvSpPr>
          <p:nvPr/>
        </p:nvSpPr>
        <p:spPr>
          <a:xfrm>
            <a:off x="4524375" y="2551152"/>
            <a:ext cx="31908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Fine-grained scheduling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19736E-C845-4361-9209-5796F202FE2A}"/>
              </a:ext>
            </a:extLst>
          </p:cNvPr>
          <p:cNvSpPr>
            <a:spLocks noGrp="1"/>
          </p:cNvSpPr>
          <p:nvPr/>
        </p:nvSpPr>
        <p:spPr>
          <a:xfrm>
            <a:off x="4524375" y="3351252"/>
            <a:ext cx="3190875" cy="1400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Splits requests into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small cooperating units.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Schedules units globally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and locally on GPUs.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34F9E2-DE33-40DA-B1B8-01537EB5216C}"/>
              </a:ext>
            </a:extLst>
          </p:cNvPr>
          <p:cNvSpPr>
            <a:spLocks noGrp="1"/>
          </p:cNvSpPr>
          <p:nvPr/>
        </p:nvSpPr>
        <p:spPr>
          <a:xfrm>
            <a:off x="4524375" y="4884777"/>
            <a:ext cx="31908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Up to 1.91×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762AC8-9AE3-4649-8290-8EDD41004DCF}"/>
              </a:ext>
            </a:extLst>
          </p:cNvPr>
          <p:cNvSpPr>
            <a:spLocks noGrp="1"/>
          </p:cNvSpPr>
          <p:nvPr/>
        </p:nvSpPr>
        <p:spPr>
          <a:xfrm>
            <a:off x="4524375" y="5446752"/>
            <a:ext cx="3190875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Goodput versus colocated</a:t>
            </a:r>
          </a:p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baselines on real-world</a:t>
            </a:r>
          </a:p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workload traces.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F68FDE-4B9F-4E74-BFAE-FCB6774FB9D5}"/>
              </a:ext>
            </a:extLst>
          </p:cNvPr>
          <p:cNvSpPr>
            <a:spLocks noGrp="1"/>
          </p:cNvSpPr>
          <p:nvPr/>
        </p:nvSpPr>
        <p:spPr>
          <a:xfrm>
            <a:off x="8305800" y="1417677"/>
            <a:ext cx="31908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850" b="1">
                <a:solidFill>
                  <a:srgbClr val="993300"/>
                </a:solidFill>
                <a:latin typeface="Helvetica"/>
                <a:ea typeface="Helvetica"/>
                <a:cs typeface="Helvetica"/>
                <a:hlinkClick r:id="rId5"/>
              </a:rPr>
              <a:t>RamRyder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F7196E7-D549-4972-A59A-F3673F6683B3}"/>
              </a:ext>
            </a:extLst>
          </p:cNvPr>
          <p:cNvSpPr>
            <a:spLocks noGrp="1"/>
          </p:cNvSpPr>
          <p:nvPr/>
        </p:nvSpPr>
        <p:spPr>
          <a:xfrm>
            <a:off x="8305800" y="1922502"/>
            <a:ext cx="31908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475B66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475B66"/>
                </a:solidFill>
                <a:latin typeface="Helvetica"/>
                <a:ea typeface="Helvetica"/>
                <a:cs typeface="Helvetica"/>
              </a:rPr>
              <a:t>OSDI 2026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5F6A04D-1389-4393-97E4-6B94BBB7678D}"/>
              </a:ext>
            </a:extLst>
          </p:cNvPr>
          <p:cNvSpPr>
            <a:spLocks noGrp="1"/>
          </p:cNvSpPr>
          <p:nvPr/>
        </p:nvSpPr>
        <p:spPr>
          <a:xfrm>
            <a:off x="8305800" y="2551152"/>
            <a:ext cx="31908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Elastic VM memory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F5FD4A-495F-4AFD-A7AA-128DC2689006}"/>
              </a:ext>
            </a:extLst>
          </p:cNvPr>
          <p:cNvSpPr>
            <a:spLocks noGrp="1"/>
          </p:cNvSpPr>
          <p:nvPr/>
        </p:nvSpPr>
        <p:spPr>
          <a:xfrm>
            <a:off x="8305800" y="3351252"/>
            <a:ext cx="3190875" cy="1400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Remaps guest OS pages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to memory channels.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Adjusts memory capacity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and bandwidth per VM.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08237FB-7626-4AE2-B2F3-454383CB80CB}"/>
              </a:ext>
            </a:extLst>
          </p:cNvPr>
          <p:cNvSpPr>
            <a:spLocks noGrp="1"/>
          </p:cNvSpPr>
          <p:nvPr/>
        </p:nvSpPr>
        <p:spPr>
          <a:xfrm>
            <a:off x="8305800" y="4884777"/>
            <a:ext cx="31908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Higher utilization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B9ADA3-2D2A-4636-9A5B-1E6909E6CDC5}"/>
              </a:ext>
            </a:extLst>
          </p:cNvPr>
          <p:cNvSpPr>
            <a:spLocks noGrp="1"/>
          </p:cNvSpPr>
          <p:nvPr/>
        </p:nvSpPr>
        <p:spPr>
          <a:xfrm>
            <a:off x="8305800" y="5446752"/>
            <a:ext cx="3190875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Capacity use: +28.6%</a:t>
            </a:r>
          </a:p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Bandwidth use: +43.2%</a:t>
            </a:r>
          </a:p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in the evaluated cluster.</a:t>
            </a:r>
          </a:p>
        </p:txBody>
      </p:sp>
    </p:spTree>
    <p:extLst>
      <p:ext uri="{BB962C8B-B14F-4D97-AF65-F5344CB8AC3E}">
        <p14:creationId xmlns:p14="http://schemas.microsoft.com/office/powerpoint/2010/main" val="310801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48A2F54-BC84-470A-A3DA-58FD45BB6889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Textbook and Learning Resources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1621617"/>
            <a:ext cx="2571750" cy="368144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2C47F43-F7E3-4F8C-B0BD-585A997E7866}"/>
              </a:ext>
            </a:extLst>
          </p:cNvPr>
          <p:cNvSpPr>
            <a:spLocks noGrp="1"/>
          </p:cNvSpPr>
          <p:nvPr/>
        </p:nvSpPr>
        <p:spPr>
          <a:xfrm>
            <a:off x="3810000" y="1533525"/>
            <a:ext cx="766762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Operating System Concepts</a:t>
            </a:r>
          </a:p>
          <a:p>
            <a:pPr>
              <a:defRPr sz="2700" b="1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10th edition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8528C8-828D-4447-A9C4-7C4A19879549}"/>
              </a:ext>
            </a:extLst>
          </p:cNvPr>
          <p:cNvSpPr>
            <a:spLocks noGrp="1"/>
          </p:cNvSpPr>
          <p:nvPr/>
        </p:nvSpPr>
        <p:spPr>
          <a:xfrm>
            <a:off x="3810000" y="2505075"/>
            <a:ext cx="766762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Abraham Silberschatz, Peter Baer Galvin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and Greg Gagne</a:t>
            </a:r>
          </a:p>
        </p:txBody>
      </p:sp>
      <p:sp>
        <p:nvSpPr>
          <p:cNvPr id="5" name="link-3-3">
            <a:extLst>
              <a:ext uri="{FF2B5EF4-FFF2-40B4-BE49-F238E27FC236}">
                <a16:creationId xmlns:a16="http://schemas.microsoft.com/office/drawing/2014/main" id="{070231FC-A928-4D65-973B-C0AEA0715454}"/>
              </a:ext>
            </a:extLst>
          </p:cNvPr>
          <p:cNvSpPr>
            <a:spLocks noGrp="1"/>
          </p:cNvSpPr>
          <p:nvPr/>
        </p:nvSpPr>
        <p:spPr>
          <a:xfrm>
            <a:off x="3810000" y="3324225"/>
            <a:ext cx="76676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993300"/>
                </a:solidFill>
                <a:latin typeface="Helvetica"/>
                <a:ea typeface="Helvetica"/>
                <a:cs typeface="Helvetica"/>
                <a:hlinkClick r:id="rId4"/>
              </a:rPr>
              <a:t>Official companion resources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C71DCB-6A5D-4A1E-8BF0-0107E5E42E55}"/>
              </a:ext>
            </a:extLst>
          </p:cNvPr>
          <p:cNvSpPr>
            <a:spLocks noGrp="1"/>
          </p:cNvSpPr>
          <p:nvPr/>
        </p:nvSpPr>
        <p:spPr>
          <a:xfrm>
            <a:off x="3810000" y="3771900"/>
            <a:ext cx="766762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Chapter slides, exercises and study guide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Review questions, C/Java examples and errata</a:t>
            </a:r>
          </a:p>
        </p:txBody>
      </p:sp>
      <p:sp>
        <p:nvSpPr>
          <p:cNvPr id="7" name="link-3-5">
            <a:extLst>
              <a:ext uri="{FF2B5EF4-FFF2-40B4-BE49-F238E27FC236}">
                <a16:creationId xmlns:a16="http://schemas.microsoft.com/office/drawing/2014/main" id="{B448AF6A-0877-43AA-988D-C3381DAF3432}"/>
              </a:ext>
            </a:extLst>
          </p:cNvPr>
          <p:cNvSpPr>
            <a:spLocks noGrp="1"/>
          </p:cNvSpPr>
          <p:nvPr/>
        </p:nvSpPr>
        <p:spPr>
          <a:xfrm>
            <a:off x="3810000" y="4514850"/>
            <a:ext cx="76676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475B66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475B66"/>
                </a:solidFill>
                <a:latin typeface="Helvetica"/>
                <a:ea typeface="Helvetica"/>
                <a:cs typeface="Helvetica"/>
                <a:hlinkClick r:id="rId4"/>
              </a:rPr>
              <a:t>os-book.com/OS10/</a:t>
            </a:r>
          </a:p>
        </p:txBody>
      </p:sp>
      <p:sp>
        <p:nvSpPr>
          <p:cNvPr id="8" name="link-3-6">
            <a:extLst>
              <a:ext uri="{FF2B5EF4-FFF2-40B4-BE49-F238E27FC236}">
                <a16:creationId xmlns:a16="http://schemas.microsoft.com/office/drawing/2014/main" id="{A992689E-F1FB-4F30-A88F-DD13F5A7BE2B}"/>
              </a:ext>
            </a:extLst>
          </p:cNvPr>
          <p:cNvSpPr>
            <a:spLocks noGrp="1"/>
          </p:cNvSpPr>
          <p:nvPr/>
        </p:nvSpPr>
        <p:spPr>
          <a:xfrm>
            <a:off x="3810000" y="5029200"/>
            <a:ext cx="76676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993300"/>
                </a:solidFill>
                <a:latin typeface="Helvetica"/>
                <a:ea typeface="Helvetica"/>
                <a:cs typeface="Helvetica"/>
                <a:hlinkClick r:id="rId5"/>
              </a:rPr>
              <a:t>Supplementary reading: OSTEP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EC078E-5CB7-4D44-9341-2FD8ACFBC437}"/>
              </a:ext>
            </a:extLst>
          </p:cNvPr>
          <p:cNvSpPr>
            <a:spLocks noGrp="1"/>
          </p:cNvSpPr>
          <p:nvPr/>
        </p:nvSpPr>
        <p:spPr>
          <a:xfrm>
            <a:off x="3810000" y="5448300"/>
            <a:ext cx="76676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Free online chapters, simulators and projects</a:t>
            </a:r>
          </a:p>
        </p:txBody>
      </p:sp>
      <p:sp>
        <p:nvSpPr>
          <p:cNvPr id="10" name="link-3-8">
            <a:extLst>
              <a:ext uri="{FF2B5EF4-FFF2-40B4-BE49-F238E27FC236}">
                <a16:creationId xmlns:a16="http://schemas.microsoft.com/office/drawing/2014/main" id="{588DCFE0-C643-43F1-92D5-F3E0D6173128}"/>
              </a:ext>
            </a:extLst>
          </p:cNvPr>
          <p:cNvSpPr>
            <a:spLocks noGrp="1"/>
          </p:cNvSpPr>
          <p:nvPr/>
        </p:nvSpPr>
        <p:spPr>
          <a:xfrm>
            <a:off x="742950" y="6076950"/>
            <a:ext cx="107156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  <a:hlinkClick r:id="rId6"/>
              </a:rPr>
              <a:t>Course website and lecture slides: courses.zju.edu.cn</a:t>
            </a:r>
          </a:p>
        </p:txBody>
      </p:sp>
    </p:spTree>
    <p:extLst>
      <p:ext uri="{BB962C8B-B14F-4D97-AF65-F5344CB8AC3E}">
        <p14:creationId xmlns:p14="http://schemas.microsoft.com/office/powerpoint/2010/main" val="19033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CBC4BEFA-C136-497C-B487-D7144678C03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xv6: Courses and Resources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7277EE-380E-4E67-8750-6169DEB61BA1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352425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A small kernel</a:t>
            </a:r>
          </a:p>
          <a:p>
            <a:pPr>
              <a:defRPr sz="270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you can read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60EDC0-217C-4B20-B151-5F104F0879D0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524250" cy="1514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 Unix-like teaching OS</a:t>
            </a:r>
          </a:p>
          <a:p>
            <a:pPr>
              <a:defRPr sz="2175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for multicore RISC-V.</a:t>
            </a:r>
          </a:p>
          <a:p>
            <a:pPr>
              <a:defRPr sz="2175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Read the book alongside</a:t>
            </a:r>
          </a:p>
          <a:p>
            <a:pPr>
              <a:defRPr sz="2175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its C and assembly code.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A7883E-4726-4C36-A483-9046027B6164}"/>
              </a:ext>
            </a:extLst>
          </p:cNvPr>
          <p:cNvSpPr>
            <a:spLocks noGrp="1"/>
          </p:cNvSpPr>
          <p:nvPr/>
        </p:nvSpPr>
        <p:spPr>
          <a:xfrm>
            <a:off x="742950" y="4410075"/>
            <a:ext cx="3524250" cy="1057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475B66"/>
                </a:solidFill>
                <a:latin typeface="Helvetica"/>
                <a:ea typeface="Helvetica"/>
                <a:cs typeface="Helvetica"/>
              </a:defRPr>
            </a:pPr>
            <a:r>
              <a:rPr sz="2025" b="0">
                <a:solidFill>
                  <a:srgbClr val="475B66"/>
                </a:solidFill>
                <a:latin typeface="Helvetica"/>
                <a:ea typeface="Helvetica"/>
                <a:cs typeface="Helvetica"/>
              </a:rPr>
              <a:t>Russ Cox</a:t>
            </a:r>
          </a:p>
          <a:p>
            <a:pPr>
              <a:defRPr sz="2025" b="0">
                <a:solidFill>
                  <a:srgbClr val="475B66"/>
                </a:solidFill>
                <a:latin typeface="Helvetica"/>
                <a:ea typeface="Helvetica"/>
                <a:cs typeface="Helvetica"/>
              </a:defRPr>
            </a:pPr>
            <a:r>
              <a:rPr sz="2025" b="0">
                <a:solidFill>
                  <a:srgbClr val="475B66"/>
                </a:solidFill>
                <a:latin typeface="Helvetica"/>
                <a:ea typeface="Helvetica"/>
                <a:cs typeface="Helvetica"/>
              </a:rPr>
              <a:t>Frans Kaashoek</a:t>
            </a:r>
          </a:p>
          <a:p>
            <a:pPr>
              <a:defRPr sz="2025" b="0">
                <a:solidFill>
                  <a:srgbClr val="475B66"/>
                </a:solidFill>
                <a:latin typeface="Helvetica"/>
                <a:ea typeface="Helvetica"/>
                <a:cs typeface="Helvetica"/>
              </a:defRPr>
            </a:pPr>
            <a:r>
              <a:rPr sz="2025" b="0">
                <a:solidFill>
                  <a:srgbClr val="475B66"/>
                </a:solidFill>
                <a:latin typeface="Helvetica"/>
                <a:ea typeface="Helvetica"/>
                <a:cs typeface="Helvetica"/>
              </a:rPr>
              <a:t>Robert Morris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AC7E87-0B63-43E0-8AFB-7FABCA6217BF}"/>
              </a:ext>
            </a:extLst>
          </p:cNvPr>
          <p:cNvSpPr>
            <a:spLocks noGrp="1"/>
          </p:cNvSpPr>
          <p:nvPr/>
        </p:nvSpPr>
        <p:spPr>
          <a:xfrm>
            <a:off x="742950" y="5676900"/>
            <a:ext cx="3667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Useful starting points:</a:t>
            </a:r>
          </a:p>
          <a:p>
            <a:pPr>
              <a:def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kernel/proc.c and kernel/vm.c</a:t>
            </a:r>
          </a:p>
        </p:txBody>
      </p:sp>
      <p:sp>
        <p:nvSpPr>
          <p:cNvPr id="6" name="link-4-5">
            <a:extLst>
              <a:ext uri="{FF2B5EF4-FFF2-40B4-BE49-F238E27FC236}">
                <a16:creationId xmlns:a16="http://schemas.microsoft.com/office/drawing/2014/main" id="{FFCF8342-E808-428F-B06D-3D96D867B5F7}"/>
              </a:ext>
            </a:extLst>
          </p:cNvPr>
          <p:cNvSpPr>
            <a:spLocks noGrp="1"/>
          </p:cNvSpPr>
          <p:nvPr/>
        </p:nvSpPr>
        <p:spPr>
          <a:xfrm>
            <a:off x="4810125" y="1552575"/>
            <a:ext cx="66675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993300"/>
                </a:solidFill>
                <a:latin typeface="Helvetica"/>
                <a:ea typeface="Helvetica"/>
                <a:cs typeface="Helvetica"/>
                <a:hlinkClick r:id="rId3"/>
              </a:rPr>
              <a:t>MIT 6.1810</a:t>
            </a:r>
          </a:p>
          <a:p>
            <a:pPr>
              <a:defRPr sz="240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993300"/>
                </a:solidFill>
                <a:latin typeface="Helvetica"/>
                <a:ea typeface="Helvetica"/>
                <a:cs typeface="Helvetica"/>
                <a:hlinkClick r:id="rId3"/>
              </a:rPr>
              <a:t>Operating System Engineering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E518AB-0CDE-4802-A56E-D29704CF1437}"/>
              </a:ext>
            </a:extLst>
          </p:cNvPr>
          <p:cNvSpPr>
            <a:spLocks noGrp="1"/>
          </p:cNvSpPr>
          <p:nvPr/>
        </p:nvSpPr>
        <p:spPr>
          <a:xfrm>
            <a:off x="4810125" y="2409825"/>
            <a:ext cx="6667500" cy="771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Lectures and labs: page tables, traps, locking,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network drivers, file systems and mmap.</a:t>
            </a:r>
          </a:p>
        </p:txBody>
      </p:sp>
      <p:sp>
        <p:nvSpPr>
          <p:cNvPr id="8" name="link-4-7">
            <a:extLst>
              <a:ext uri="{FF2B5EF4-FFF2-40B4-BE49-F238E27FC236}">
                <a16:creationId xmlns:a16="http://schemas.microsoft.com/office/drawing/2014/main" id="{9D78EB27-7CF4-41F4-94C9-5701081921B4}"/>
              </a:ext>
            </a:extLst>
          </p:cNvPr>
          <p:cNvSpPr>
            <a:spLocks noGrp="1"/>
          </p:cNvSpPr>
          <p:nvPr/>
        </p:nvSpPr>
        <p:spPr>
          <a:xfrm>
            <a:off x="4810125" y="3190875"/>
            <a:ext cx="6667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475B66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475B66"/>
                </a:solidFill>
                <a:latin typeface="Helvetica"/>
                <a:ea typeface="Helvetica"/>
                <a:cs typeface="Helvetica"/>
                <a:hlinkClick r:id="rId3"/>
              </a:rPr>
              <a:t>pdos.csail.mit.edu/6.1810/2026/</a:t>
            </a:r>
          </a:p>
        </p:txBody>
      </p:sp>
      <p:sp>
        <p:nvSpPr>
          <p:cNvPr id="9" name="link-4-8">
            <a:extLst>
              <a:ext uri="{FF2B5EF4-FFF2-40B4-BE49-F238E27FC236}">
                <a16:creationId xmlns:a16="http://schemas.microsoft.com/office/drawing/2014/main" id="{238356F6-7FBD-43F5-879B-03F3DDA75632}"/>
              </a:ext>
            </a:extLst>
          </p:cNvPr>
          <p:cNvSpPr>
            <a:spLocks noGrp="1"/>
          </p:cNvSpPr>
          <p:nvPr/>
        </p:nvSpPr>
        <p:spPr>
          <a:xfrm>
            <a:off x="4810125" y="3810000"/>
            <a:ext cx="6667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993300"/>
                </a:solidFill>
                <a:latin typeface="Helvetica"/>
                <a:ea typeface="Helvetica"/>
                <a:cs typeface="Helvetica"/>
                <a:hlinkClick r:id="rId4"/>
              </a:rPr>
              <a:t>xv6 book: online text and source</a:t>
            </a:r>
          </a:p>
        </p:txBody>
      </p:sp>
      <p:sp>
        <p:nvSpPr>
          <p:cNvPr id="10" name="link-4-9">
            <a:extLst>
              <a:ext uri="{FF2B5EF4-FFF2-40B4-BE49-F238E27FC236}">
                <a16:creationId xmlns:a16="http://schemas.microsoft.com/office/drawing/2014/main" id="{9103594E-BEE7-43F9-B0EE-FCA5DEB2E141}"/>
              </a:ext>
            </a:extLst>
          </p:cNvPr>
          <p:cNvSpPr>
            <a:spLocks noGrp="1"/>
          </p:cNvSpPr>
          <p:nvPr/>
        </p:nvSpPr>
        <p:spPr>
          <a:xfrm>
            <a:off x="4810125" y="4257675"/>
            <a:ext cx="6667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475B66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475B66"/>
                </a:solidFill>
                <a:latin typeface="Helvetica"/>
                <a:ea typeface="Helvetica"/>
                <a:cs typeface="Helvetica"/>
                <a:hlinkClick r:id="rId4"/>
              </a:rPr>
              <a:t>mit-pdos.github.io/xv6-riscv-book/</a:t>
            </a:r>
          </a:p>
        </p:txBody>
      </p:sp>
      <p:sp>
        <p:nvSpPr>
          <p:cNvPr id="11" name="link-4-10">
            <a:extLst>
              <a:ext uri="{FF2B5EF4-FFF2-40B4-BE49-F238E27FC236}">
                <a16:creationId xmlns:a16="http://schemas.microsoft.com/office/drawing/2014/main" id="{45C17262-B380-4C3A-868E-0CF55D412437}"/>
              </a:ext>
            </a:extLst>
          </p:cNvPr>
          <p:cNvSpPr>
            <a:spLocks noGrp="1"/>
          </p:cNvSpPr>
          <p:nvPr/>
        </p:nvSpPr>
        <p:spPr>
          <a:xfrm>
            <a:off x="4810125" y="4600575"/>
            <a:ext cx="6667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475B66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475B66"/>
                </a:solidFill>
                <a:latin typeface="Helvetica"/>
                <a:ea typeface="Helvetica"/>
                <a:cs typeface="Helvetica"/>
                <a:hlinkClick r:id="rId5"/>
              </a:rPr>
              <a:t>github.com/mit-pdos/xv6-riscv-book</a:t>
            </a:r>
          </a:p>
        </p:txBody>
      </p:sp>
      <p:sp>
        <p:nvSpPr>
          <p:cNvPr id="12" name="link-4-11">
            <a:extLst>
              <a:ext uri="{FF2B5EF4-FFF2-40B4-BE49-F238E27FC236}">
                <a16:creationId xmlns:a16="http://schemas.microsoft.com/office/drawing/2014/main" id="{B30EA094-1B7A-4A54-9222-0CDE68A953D3}"/>
              </a:ext>
            </a:extLst>
          </p:cNvPr>
          <p:cNvSpPr>
            <a:spLocks noGrp="1"/>
          </p:cNvSpPr>
          <p:nvPr/>
        </p:nvSpPr>
        <p:spPr>
          <a:xfrm>
            <a:off x="4810125" y="5219700"/>
            <a:ext cx="6667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993300"/>
                </a:solidFill>
                <a:latin typeface="Helvetica"/>
                <a:ea typeface="Helvetica"/>
                <a:cs typeface="Helvetica"/>
                <a:hlinkClick r:id="rId6"/>
              </a:rPr>
              <a:t>xv6 kernel source</a:t>
            </a:r>
          </a:p>
        </p:txBody>
      </p:sp>
      <p:sp>
        <p:nvSpPr>
          <p:cNvPr id="13" name="link-4-12">
            <a:extLst>
              <a:ext uri="{FF2B5EF4-FFF2-40B4-BE49-F238E27FC236}">
                <a16:creationId xmlns:a16="http://schemas.microsoft.com/office/drawing/2014/main" id="{764BAC80-1777-4DB4-923C-F69E9FD1BBC2}"/>
              </a:ext>
            </a:extLst>
          </p:cNvPr>
          <p:cNvSpPr>
            <a:spLocks noGrp="1"/>
          </p:cNvSpPr>
          <p:nvPr/>
        </p:nvSpPr>
        <p:spPr>
          <a:xfrm>
            <a:off x="4810125" y="5695950"/>
            <a:ext cx="6667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475B66"/>
                </a:solidFill>
                <a:latin typeface="Helvetica"/>
                <a:ea typeface="Helvetica"/>
                <a:cs typeface="Helvetica"/>
              </a:defRPr>
            </a:pPr>
            <a:r>
              <a:rPr sz="2000" b="0">
                <a:solidFill>
                  <a:srgbClr val="475B66"/>
                </a:solidFill>
                <a:latin typeface="Helvetica"/>
                <a:ea typeface="Helvetica"/>
                <a:cs typeface="Helvetica"/>
                <a:hlinkClick r:id="rId6"/>
              </a:rPr>
              <a:t>github.com/mit-pdos/xv6-riscv</a:t>
            </a:r>
          </a:p>
        </p:txBody>
      </p:sp>
    </p:spTree>
    <p:extLst>
      <p:ext uri="{BB962C8B-B14F-4D97-AF65-F5344CB8AC3E}">
        <p14:creationId xmlns:p14="http://schemas.microsoft.com/office/powerpoint/2010/main" val="1367611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Online Assignments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7" name="文本框 4"/>
          <p:cNvSpPr txBox="1">
            <a:spLocks noChangeArrowheads="1"/>
          </p:cNvSpPr>
          <p:nvPr/>
        </p:nvSpPr>
        <p:spPr bwMode="auto">
          <a:xfrm>
            <a:off x="1498041" y="4224799"/>
            <a:ext cx="875819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 dirty="0">
                <a:hlinkClick r:id="rId2"/>
              </a:rPr>
              <a:t>http://courses.zju.edu.cn/</a:t>
            </a:r>
            <a:endParaRPr lang="en-US" altLang="zh-CN" b="1" dirty="0"/>
          </a:p>
          <a:p>
            <a:pPr algn="ctr"/>
            <a:endParaRPr lang="en-US" altLang="zh-CN" sz="1800" dirty="0"/>
          </a:p>
          <a:p>
            <a:pPr algn="ctr"/>
            <a:r>
              <a:rPr lang="en-US" altLang="zh-CN" dirty="0"/>
              <a:t>Teaching Assistants: </a:t>
            </a:r>
            <a:r>
              <a:rPr lang="zh-CN" altLang="en-US" dirty="0"/>
              <a:t>谭昭阳、张宇、桑晟</a:t>
            </a:r>
            <a:r>
              <a:rPr lang="en-US" altLang="zh-CN" dirty="0"/>
              <a:t>, </a:t>
            </a:r>
            <a:r>
              <a:rPr lang="zh-CN" altLang="en-US" dirty="0"/>
              <a:t>课程钉群可联系到</a:t>
            </a:r>
            <a:endParaRPr lang="en-US" altLang="zh-CN" dirty="0"/>
          </a:p>
          <a:p>
            <a:pPr algn="ctr"/>
            <a:r>
              <a:rPr lang="en-US" altLang="zh-CN" b="1" dirty="0"/>
              <a:t>Please submit your assignment </a:t>
            </a:r>
            <a:r>
              <a:rPr lang="en-US" altLang="zh-CN" b="1" dirty="0">
                <a:solidFill>
                  <a:srgbClr val="FF0000"/>
                </a:solidFill>
              </a:rPr>
              <a:t>IN TIME!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686" y="1603555"/>
            <a:ext cx="7516906" cy="23094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09800" y="228600"/>
            <a:ext cx="7562056" cy="609600"/>
          </a:xfrm>
        </p:spPr>
        <p:txBody>
          <a:bodyPr/>
          <a:lstStyle/>
          <a:p>
            <a:pPr>
              <a:defRPr/>
            </a:pPr>
            <a:r>
              <a:rPr lang="en-AU" altLang="zh-CN" dirty="0"/>
              <a:t>Lab Projects</a:t>
            </a:r>
            <a:endParaRPr lang="zh-CN" altLang="en-US" dirty="0"/>
          </a:p>
        </p:txBody>
      </p:sp>
      <p:sp>
        <p:nvSpPr>
          <p:cNvPr id="5122" name="内容占位符 2"/>
          <p:cNvSpPr>
            <a:spLocks noGrp="1"/>
          </p:cNvSpPr>
          <p:nvPr>
            <p:ph idx="1"/>
          </p:nvPr>
        </p:nvSpPr>
        <p:spPr>
          <a:xfrm>
            <a:off x="1959428" y="1094408"/>
            <a:ext cx="8429285" cy="4669183"/>
          </a:xfrm>
        </p:spPr>
        <p:txBody>
          <a:bodyPr/>
          <a:lstStyle/>
          <a:p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每位同学独立完成，不得复制同年级、高年级同学的实验代码。代码抄袭行为和协助抄袭如被确认，后果自负。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Lab0 RISC-V 64 Kernel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Debug	  	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5%</a:t>
            </a:r>
          </a:p>
          <a:p>
            <a:pPr lvl="1"/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Lab1 Kernel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Booting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&amp;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Timer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15%</a:t>
            </a:r>
          </a:p>
          <a:p>
            <a:pPr lvl="1"/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Lab2 Scheduling,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Context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Switching	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15%</a:t>
            </a:r>
          </a:p>
          <a:p>
            <a:pPr lvl="1"/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Lab3 Virtual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Memory			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15%</a:t>
            </a:r>
          </a:p>
          <a:p>
            <a:pPr lvl="1"/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Lab4 User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Mode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(shell)			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20%</a:t>
            </a:r>
          </a:p>
          <a:p>
            <a:pPr lvl="1"/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Lab5 Page fault and Fork			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30%</a:t>
            </a:r>
          </a:p>
          <a:p>
            <a:pPr lvl="1"/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Lab6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File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System	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	10%</a:t>
            </a:r>
          </a:p>
        </p:txBody>
      </p:sp>
    </p:spTree>
    <p:extLst>
      <p:ext uri="{BB962C8B-B14F-4D97-AF65-F5344CB8AC3E}">
        <p14:creationId xmlns:p14="http://schemas.microsoft.com/office/powerpoint/2010/main" val="1054581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Lab Projects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1" y="1320800"/>
            <a:ext cx="8305799" cy="4177370"/>
          </a:xfrm>
        </p:spPr>
        <p:txBody>
          <a:bodyPr/>
          <a:lstStyle/>
          <a:p>
            <a:pPr>
              <a:spcBef>
                <a:spcPts val="1356"/>
              </a:spcBef>
              <a:spcAft>
                <a:spcPts val="600"/>
              </a:spcAft>
            </a:pP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Lab0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：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To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submit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Project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Report,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NO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Demo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；</a:t>
            </a:r>
            <a:endParaRPr lang="en-US" altLang="zh-CN" sz="2400" dirty="0">
              <a:latin typeface="Book Antiqua" panose="02040602050305030304" pitchFamily="18" charset="0"/>
              <a:ea typeface="楷体" panose="02010609060101010101" pitchFamily="49" charset="-122"/>
            </a:endParaRPr>
          </a:p>
          <a:p>
            <a:pPr>
              <a:spcBef>
                <a:spcPts val="1356"/>
              </a:spcBef>
              <a:spcAft>
                <a:spcPts val="600"/>
              </a:spcAft>
            </a:pP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Lab1-6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：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To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submit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Project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Report,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To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Demo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with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</a:rPr>
              <a:t>TA</a:t>
            </a:r>
          </a:p>
          <a:p>
            <a:pPr marL="685800"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0033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代码必须有详细的注释，每5行代码有注释</a:t>
            </a:r>
            <a:endParaRPr lang="en-US" altLang="zh-CN" sz="2000" dirty="0">
              <a:solidFill>
                <a:srgbClr val="0033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85800"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0033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每个实验写“讨论心得” </a:t>
            </a:r>
            <a:r>
              <a:rPr lang="en-US" altLang="zh-CN" sz="2000" dirty="0">
                <a:solidFill>
                  <a:srgbClr val="0033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33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实验过程中遇到的问题及解决方法</a:t>
            </a:r>
            <a:r>
              <a:rPr lang="en-US" altLang="zh-CN" sz="2000" dirty="0">
                <a:solidFill>
                  <a:srgbClr val="0033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33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这部分内容占本实验报告</a:t>
            </a:r>
            <a:r>
              <a:rPr lang="en-US" altLang="zh-CN" sz="2000" dirty="0">
                <a:solidFill>
                  <a:srgbClr val="0033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20%</a:t>
            </a:r>
            <a:r>
              <a:rPr lang="zh-CN" altLang="en-US" sz="2000" dirty="0">
                <a:solidFill>
                  <a:srgbClr val="0033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分数</a:t>
            </a:r>
            <a:endParaRPr lang="en-US" altLang="zh-CN" sz="2800" dirty="0">
              <a:solidFill>
                <a:srgbClr val="0033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85800"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0033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每个实验完成后，向老师</a:t>
            </a:r>
            <a:r>
              <a:rPr lang="en-US" altLang="zh-CN" sz="2000" dirty="0">
                <a:solidFill>
                  <a:srgbClr val="0033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33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助教演示，以完成验收。</a:t>
            </a:r>
            <a:endParaRPr lang="en-US" altLang="zh-CN" sz="2000" dirty="0">
              <a:solidFill>
                <a:srgbClr val="0033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1356"/>
              </a:spcBef>
              <a:spcAft>
                <a:spcPts val="600"/>
              </a:spcAft>
            </a:pP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Project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Docs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 </a:t>
            </a:r>
            <a:r>
              <a:rPr lang="en" altLang="zh-CN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  <a:hlinkClick r:id="rId2"/>
              </a:rPr>
              <a:t>https://os.pages.zjusct.io/fa26/doc-shoulidan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 </a:t>
            </a:r>
            <a:endParaRPr lang="en-US" altLang="zh-CN" sz="2400" dirty="0">
              <a:latin typeface="Book Antiqua" panose="02040602050305030304" pitchFamily="18" charset="0"/>
              <a:ea typeface="楷体" panose="02010609060101010101" pitchFamily="49" charset="-122"/>
              <a:cs typeface="Book Antiqua" charset="0"/>
            </a:endParaRPr>
          </a:p>
          <a:p>
            <a:pPr>
              <a:spcBef>
                <a:spcPts val="1356"/>
              </a:spcBef>
              <a:spcAft>
                <a:spcPts val="600"/>
              </a:spcAft>
            </a:pP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Project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Code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Repo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 </a:t>
            </a:r>
            <a:r>
              <a:rPr lang="en" altLang="zh-CN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  <a:hlinkClick r:id="rId3"/>
              </a:rPr>
              <a:t>https://git.zju.edu.cn/os/fa26/shoulidan/os-</a:t>
            </a:r>
            <a:r>
              <a:rPr lang="en" altLang="zh-CN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&lt;</a:t>
            </a:r>
            <a:r>
              <a:rPr lang="en-US" altLang="zh-CN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ID&gt;</a:t>
            </a:r>
            <a:r>
              <a:rPr lang="zh-CN" altLang="en-US" sz="24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  </a:t>
            </a:r>
            <a:endParaRPr lang="en" altLang="zh-CN" sz="2400" dirty="0">
              <a:latin typeface="Book Antiqua" panose="02040602050305030304" pitchFamily="18" charset="0"/>
              <a:ea typeface="楷体" panose="02010609060101010101" pitchFamily="49" charset="-122"/>
              <a:cs typeface="Book Antiqua" charset="0"/>
            </a:endParaRPr>
          </a:p>
          <a:p>
            <a:pPr>
              <a:spcBef>
                <a:spcPts val="1356"/>
              </a:spcBef>
              <a:spcAft>
                <a:spcPts val="600"/>
              </a:spcAft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5898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Final Grade</a:t>
            </a:r>
          </a:p>
        </p:txBody>
      </p:sp>
      <p:sp>
        <p:nvSpPr>
          <p:cNvPr id="1331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346171" y="1580029"/>
            <a:ext cx="7351712" cy="3997512"/>
          </a:xfrm>
        </p:spPr>
        <p:txBody>
          <a:bodyPr/>
          <a:lstStyle/>
          <a:p>
            <a:r>
              <a:rPr lang="en-US" altLang="zh-CN" sz="2400" dirty="0">
                <a:latin typeface="Book Antiqua" panose="02040602050305030304" pitchFamily="18" charset="0"/>
              </a:rPr>
              <a:t>Final exam 			(50%)</a:t>
            </a:r>
            <a:endParaRPr lang="zh-CN" altLang="en-US" sz="2400" dirty="0">
              <a:latin typeface="Book Antiqua" panose="02040602050305030304" pitchFamily="18" charset="0"/>
            </a:endParaRPr>
          </a:p>
          <a:p>
            <a:r>
              <a:rPr lang="en-US" altLang="zh-CN" sz="2400" dirty="0">
                <a:latin typeface="Book Antiqua" panose="02040602050305030304" pitchFamily="18" charset="0"/>
              </a:rPr>
              <a:t>Lab</a:t>
            </a:r>
            <a:r>
              <a:rPr lang="zh-CN" altLang="en-US" sz="2400" dirty="0">
                <a:latin typeface="Book Antiqua" panose="02040602050305030304" pitchFamily="18" charset="0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</a:rPr>
              <a:t>Exam</a:t>
            </a:r>
            <a:r>
              <a:rPr lang="zh-CN" altLang="en-US" sz="2400" dirty="0">
                <a:latin typeface="Book Antiqua" panose="02040602050305030304" pitchFamily="18" charset="0"/>
              </a:rPr>
              <a:t>上机考试</a:t>
            </a:r>
            <a:r>
              <a:rPr lang="en-US" altLang="zh-CN" sz="2400" dirty="0">
                <a:latin typeface="Book Antiqua" panose="02040602050305030304" pitchFamily="18" charset="0"/>
              </a:rPr>
              <a:t>		(10%+Bonus)</a:t>
            </a:r>
          </a:p>
          <a:p>
            <a:r>
              <a:rPr lang="en-US" altLang="zh-CN" sz="2400" dirty="0">
                <a:latin typeface="Book Antiqua" panose="02040602050305030304" pitchFamily="18" charset="0"/>
              </a:rPr>
              <a:t>Assignments/homework</a:t>
            </a:r>
            <a:r>
              <a:rPr lang="zh-CN" altLang="en-US" sz="2400" dirty="0">
                <a:latin typeface="Book Antiqua" panose="02040602050305030304" pitchFamily="18" charset="0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</a:rPr>
              <a:t>	(5%)</a:t>
            </a:r>
          </a:p>
          <a:p>
            <a:r>
              <a:rPr lang="en-US" altLang="zh-CN" sz="2400" dirty="0">
                <a:latin typeface="Book Antiqua" panose="02040602050305030304" pitchFamily="18" charset="0"/>
              </a:rPr>
              <a:t>In-class</a:t>
            </a:r>
            <a:r>
              <a:rPr lang="zh-CN" altLang="en-US" sz="2400" dirty="0">
                <a:latin typeface="Book Antiqua" panose="02040602050305030304" pitchFamily="18" charset="0"/>
              </a:rPr>
              <a:t> </a:t>
            </a:r>
            <a:r>
              <a:rPr lang="en-US" altLang="zh-CN" sz="2400" dirty="0">
                <a:latin typeface="Book Antiqua" panose="02040602050305030304" pitchFamily="18" charset="0"/>
              </a:rPr>
              <a:t>Quiz 			(5%)</a:t>
            </a:r>
          </a:p>
          <a:p>
            <a:r>
              <a:rPr lang="en-US" altLang="zh-CN" sz="2400" dirty="0">
                <a:latin typeface="Book Antiqua" panose="02040602050305030304" pitchFamily="18" charset="0"/>
              </a:rPr>
              <a:t>Lab Reports </a:t>
            </a:r>
            <a:r>
              <a:rPr lang="zh-CN" altLang="en-US" sz="2400" dirty="0">
                <a:latin typeface="Book Antiqua" panose="02040602050305030304" pitchFamily="18" charset="0"/>
              </a:rPr>
              <a:t>实验报告 </a:t>
            </a:r>
            <a:r>
              <a:rPr lang="en-US" altLang="zh-CN" sz="2400" dirty="0">
                <a:latin typeface="Book Antiqua" panose="02040602050305030304" pitchFamily="18" charset="0"/>
              </a:rPr>
              <a:t>		(10%)</a:t>
            </a:r>
            <a:endParaRPr lang="zh-CN" altLang="en-US" sz="2400" dirty="0">
              <a:latin typeface="Book Antiqua" panose="02040602050305030304" pitchFamily="18" charset="0"/>
            </a:endParaRPr>
          </a:p>
          <a:p>
            <a:r>
              <a:rPr lang="en-US" altLang="zh-CN" sz="2400" dirty="0">
                <a:latin typeface="Book Antiqua" panose="02040602050305030304" pitchFamily="18" charset="0"/>
              </a:rPr>
              <a:t>Lab Demos </a:t>
            </a:r>
            <a:r>
              <a:rPr lang="zh-CN" altLang="en-US" sz="2400" dirty="0">
                <a:latin typeface="Book Antiqua" panose="02040602050305030304" pitchFamily="18" charset="0"/>
              </a:rPr>
              <a:t>实验验收  </a:t>
            </a:r>
            <a:r>
              <a:rPr lang="en-US" altLang="zh-CN" sz="2400" dirty="0">
                <a:latin typeface="Book Antiqua" panose="02040602050305030304" pitchFamily="18" charset="0"/>
              </a:rPr>
              <a:t>		(20%)</a:t>
            </a:r>
          </a:p>
        </p:txBody>
      </p:sp>
      <p:graphicFrame>
        <p:nvGraphicFramePr>
          <p:cNvPr id="13315" name="Object 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507405467"/>
              </p:ext>
            </p:extLst>
          </p:nvPr>
        </p:nvGraphicFramePr>
        <p:xfrm>
          <a:off x="1126215" y="2350238"/>
          <a:ext cx="1340503" cy="2157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3" imgW="1701800" imgH="3657600" progId="MS_ClipArt_Gallery.2">
                  <p:embed/>
                </p:oleObj>
              </mc:Choice>
              <mc:Fallback>
                <p:oleObj name="ClipArt" r:id="rId3" imgW="1701800" imgH="3657600" progId="MS_ClipArt_Gallery.2">
                  <p:embed/>
                  <p:pic>
                    <p:nvPicPr>
                      <p:cNvPr id="13315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215" y="2350238"/>
                        <a:ext cx="1340503" cy="2157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3F1F94B-F402-4DDF-AF2B-C74EF6B4863F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Suggestions for Learning OS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54A932-C07A-4290-B680-5D0DF67E090D}"/>
              </a:ext>
            </a:extLst>
          </p:cNvPr>
          <p:cNvSpPr>
            <a:spLocks noGrp="1"/>
          </p:cNvSpPr>
          <p:nvPr/>
        </p:nvSpPr>
        <p:spPr>
          <a:xfrm>
            <a:off x="742950" y="1459640"/>
            <a:ext cx="50101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Read before and after class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66257A-DDCA-4CF1-BF1C-DC1C6823DD9F}"/>
              </a:ext>
            </a:extLst>
          </p:cNvPr>
          <p:cNvSpPr>
            <a:spLocks noGrp="1"/>
          </p:cNvSpPr>
          <p:nvPr/>
        </p:nvSpPr>
        <p:spPr>
          <a:xfrm>
            <a:off x="742950" y="1935890"/>
            <a:ext cx="501015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Read the English textbook before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and after class. Note mechanisms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and questions to discuss.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CD9718-915F-4242-824C-2FB3C7FE95B4}"/>
              </a:ext>
            </a:extLst>
          </p:cNvPr>
          <p:cNvSpPr>
            <a:spLocks noGrp="1"/>
          </p:cNvSpPr>
          <p:nvPr/>
        </p:nvSpPr>
        <p:spPr>
          <a:xfrm>
            <a:off x="6457950" y="1459640"/>
            <a:ext cx="50101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Trace an execution path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08F09E-C496-4B58-BAA7-65A612DA9E26}"/>
              </a:ext>
            </a:extLst>
          </p:cNvPr>
          <p:cNvSpPr>
            <a:spLocks noGrp="1"/>
          </p:cNvSpPr>
          <p:nvPr/>
        </p:nvSpPr>
        <p:spPr>
          <a:xfrm>
            <a:off x="6457950" y="1935890"/>
            <a:ext cx="501015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Trace a system call or page fault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from user code into the kernel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and back.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94F974-87B8-4837-8978-7821C8A4D79C}"/>
              </a:ext>
            </a:extLst>
          </p:cNvPr>
          <p:cNvSpPr>
            <a:spLocks noGrp="1"/>
          </p:cNvSpPr>
          <p:nvPr/>
        </p:nvSpPr>
        <p:spPr>
          <a:xfrm>
            <a:off x="742950" y="3078890"/>
            <a:ext cx="50101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Implement and test incrementally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81FB7E-F22B-45A3-88A3-72413C4F37C3}"/>
              </a:ext>
            </a:extLst>
          </p:cNvPr>
          <p:cNvSpPr>
            <a:spLocks noGrp="1"/>
          </p:cNvSpPr>
          <p:nvPr/>
        </p:nvSpPr>
        <p:spPr>
          <a:xfrm>
            <a:off x="742950" y="3555140"/>
            <a:ext cx="501015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Make small changes. Test edge cases,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correctness invariants and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concurrent execution.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D25351-4583-4125-A8E4-F374F625892E}"/>
              </a:ext>
            </a:extLst>
          </p:cNvPr>
          <p:cNvSpPr>
            <a:spLocks noGrp="1"/>
          </p:cNvSpPr>
          <p:nvPr/>
        </p:nvSpPr>
        <p:spPr>
          <a:xfrm>
            <a:off x="6457950" y="3078890"/>
            <a:ext cx="50101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Debug with evidence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B40B83-97C1-4F9A-93CE-36A4DABFAE89}"/>
              </a:ext>
            </a:extLst>
          </p:cNvPr>
          <p:cNvSpPr>
            <a:spLocks noGrp="1"/>
          </p:cNvSpPr>
          <p:nvPr/>
        </p:nvSpPr>
        <p:spPr>
          <a:xfrm>
            <a:off x="6457950" y="3555140"/>
            <a:ext cx="501015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Reproduce bugs. Inspect registers,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stack traces and memory with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GDB/QEMU.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8B29CC-A748-497A-8A86-06F44977FEE6}"/>
              </a:ext>
            </a:extLst>
          </p:cNvPr>
          <p:cNvSpPr>
            <a:spLocks noGrp="1"/>
          </p:cNvSpPr>
          <p:nvPr/>
        </p:nvSpPr>
        <p:spPr>
          <a:xfrm>
            <a:off x="742950" y="4698140"/>
            <a:ext cx="50101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Explain your design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D8ADF7-E3D6-4D63-A10F-B33DA0397635}"/>
              </a:ext>
            </a:extLst>
          </p:cNvPr>
          <p:cNvSpPr>
            <a:spLocks noGrp="1"/>
          </p:cNvSpPr>
          <p:nvPr/>
        </p:nvSpPr>
        <p:spPr>
          <a:xfrm>
            <a:off x="742950" y="5174390"/>
            <a:ext cx="501015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Explain correctness and tradeoffs.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Ask questions and participate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actively in lectures.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77DFDC-F366-461A-82EF-8661413DA756}"/>
              </a:ext>
            </a:extLst>
          </p:cNvPr>
          <p:cNvSpPr>
            <a:spLocks noGrp="1"/>
          </p:cNvSpPr>
          <p:nvPr/>
        </p:nvSpPr>
        <p:spPr>
          <a:xfrm>
            <a:off x="6457950" y="4698140"/>
            <a:ext cx="50101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993300"/>
                </a:solidFill>
                <a:latin typeface="Helvetica"/>
                <a:ea typeface="Helvetica"/>
                <a:cs typeface="Helvetica"/>
              </a:rPr>
              <a:t>Reason independently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44C297-14A9-44DB-8BF7-82789E63E711}"/>
              </a:ext>
            </a:extLst>
          </p:cNvPr>
          <p:cNvSpPr>
            <a:spLocks noGrp="1"/>
          </p:cNvSpPr>
          <p:nvPr/>
        </p:nvSpPr>
        <p:spPr>
          <a:xfrm>
            <a:off x="6457950" y="5174390"/>
            <a:ext cx="501015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Unverified answers may be wrong.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Copied incorrect answers may incur</a:t>
            </a:r>
          </a:p>
          <a:p>
            <a:pPr>
              <a:def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16232B"/>
                </a:solidFill>
                <a:latin typeface="Helvetica"/>
                <a:ea typeface="Helvetica"/>
                <a:cs typeface="Helvetica"/>
              </a:rPr>
              <a:t>penalties. Keep a bug-and-fix log.</a:t>
            </a:r>
          </a:p>
        </p:txBody>
      </p:sp>
    </p:spTree>
    <p:extLst>
      <p:ext uri="{BB962C8B-B14F-4D97-AF65-F5344CB8AC3E}">
        <p14:creationId xmlns:p14="http://schemas.microsoft.com/office/powerpoint/2010/main" val="567802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73E3B-7F5D-7049-AA5E-E7F77FA39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952" y="482600"/>
            <a:ext cx="7481849" cy="609600"/>
          </a:xfrm>
        </p:spPr>
        <p:txBody>
          <a:bodyPr/>
          <a:lstStyle/>
          <a:p>
            <a:r>
              <a:rPr lang="en-US" altLang="zh-CN" dirty="0">
                <a:effectLst/>
              </a:rPr>
              <a:t>Lab0: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GDB + QEMU,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LINUX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Debug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1B9DC9-BECA-CF4A-9198-67E18EE1E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913" y="1495829"/>
            <a:ext cx="10603831" cy="4483100"/>
          </a:xfrm>
        </p:spPr>
        <p:txBody>
          <a:bodyPr/>
          <a:lstStyle/>
          <a:p>
            <a:r>
              <a:rPr lang="en-US" altLang="zh-CN" sz="2800" dirty="0"/>
              <a:t>Code</a:t>
            </a:r>
            <a:r>
              <a:rPr lang="zh-CN" altLang="en-US" sz="2800" dirty="0"/>
              <a:t> </a:t>
            </a:r>
            <a:r>
              <a:rPr lang="en-US" altLang="zh-CN" sz="2800" dirty="0"/>
              <a:t>Repo</a:t>
            </a:r>
          </a:p>
          <a:p>
            <a:pPr lvl="1"/>
            <a:r>
              <a:rPr lang="en-US" altLang="zh-CN" sz="2800" dirty="0"/>
              <a:t>https://</a:t>
            </a:r>
            <a:r>
              <a:rPr lang="en-US" altLang="zh-CN" sz="2800" dirty="0" err="1"/>
              <a:t>git.zju.edu.cn</a:t>
            </a:r>
            <a:r>
              <a:rPr lang="en-US" altLang="zh-CN" sz="2800" dirty="0"/>
              <a:t>/</a:t>
            </a:r>
            <a:r>
              <a:rPr lang="en-US" altLang="zh-CN" sz="2800" dirty="0" err="1"/>
              <a:t>os</a:t>
            </a:r>
            <a:r>
              <a:rPr lang="en-US" altLang="zh-CN" sz="2800" dirty="0"/>
              <a:t>/fa26/</a:t>
            </a:r>
            <a:r>
              <a:rPr lang="en-US" altLang="zh-CN" sz="2800" dirty="0" err="1"/>
              <a:t>shoulidan</a:t>
            </a:r>
            <a:r>
              <a:rPr lang="en-US" altLang="zh-CN" sz="2800" dirty="0"/>
              <a:t>/</a:t>
            </a:r>
            <a:r>
              <a:rPr lang="en-US" altLang="zh-CN" sz="2800" dirty="0" err="1"/>
              <a:t>os</a:t>
            </a:r>
            <a:r>
              <a:rPr lang="en-US" altLang="zh-CN" sz="2800" dirty="0"/>
              <a:t>-&lt;</a:t>
            </a:r>
            <a:r>
              <a:rPr lang="zh-CN" altLang="en-US" sz="2800" dirty="0"/>
              <a:t>学号</a:t>
            </a:r>
            <a:r>
              <a:rPr lang="en-US" altLang="zh-CN" sz="2800" dirty="0"/>
              <a:t>&gt;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r>
              <a:rPr lang="en-US" altLang="zh-CN" sz="2800" dirty="0"/>
              <a:t>Project</a:t>
            </a:r>
            <a:r>
              <a:rPr lang="zh-CN" altLang="en-US" sz="2800" dirty="0"/>
              <a:t> </a:t>
            </a:r>
            <a:r>
              <a:rPr lang="en-US" altLang="zh-CN" sz="2800" dirty="0"/>
              <a:t>Instructions</a:t>
            </a:r>
            <a:r>
              <a:rPr lang="zh-CN" altLang="en-US" sz="2800" dirty="0"/>
              <a:t> 实验说明文档在</a:t>
            </a:r>
            <a:endParaRPr lang="en-US" altLang="zh-CN" sz="2800" dirty="0"/>
          </a:p>
          <a:p>
            <a:pPr lvl="1"/>
            <a:r>
              <a:rPr lang="en" altLang="zh-CN" sz="28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  <a:hlinkClick r:id="rId3"/>
              </a:rPr>
              <a:t>https://os.pages.zjusct.io/fa26/doc-shoulidan</a:t>
            </a:r>
            <a:r>
              <a:rPr lang="zh-CN" altLang="en-US" sz="2800" dirty="0">
                <a:latin typeface="Book Antiqua" panose="02040602050305030304" pitchFamily="18" charset="0"/>
                <a:ea typeface="楷体" panose="02010609060101010101" pitchFamily="49" charset="-122"/>
                <a:cs typeface="Book Antiqua" charset="0"/>
              </a:rPr>
              <a:t> 可浏览器阅读文档</a:t>
            </a:r>
            <a:endParaRPr lang="en-US" altLang="zh-CN" sz="2800" dirty="0"/>
          </a:p>
          <a:p>
            <a:endParaRPr kumimoji="1" lang="en-US" altLang="zh-CN" sz="2800" dirty="0"/>
          </a:p>
          <a:p>
            <a:r>
              <a:rPr lang="zh-CN" altLang="en-US" sz="2800" dirty="0"/>
              <a:t>实验重点：掌握实验环境、尝试简单调试</a:t>
            </a:r>
            <a:endParaRPr lang="en-US" altLang="zh-CN" sz="2800" dirty="0"/>
          </a:p>
          <a:p>
            <a:r>
              <a:rPr lang="en-US" altLang="zh-CN" sz="2800" dirty="0" err="1"/>
              <a:t>gdb</a:t>
            </a:r>
            <a:r>
              <a:rPr lang="zh-CN" altLang="en-US" sz="2800" dirty="0"/>
              <a:t>有一个</a:t>
            </a:r>
            <a:r>
              <a:rPr lang="en-US" altLang="zh-CN" sz="2800" dirty="0"/>
              <a:t>text</a:t>
            </a:r>
            <a:r>
              <a:rPr lang="zh-CN" altLang="en-US" sz="2800" dirty="0"/>
              <a:t> </a:t>
            </a:r>
            <a:r>
              <a:rPr lang="en-US" altLang="zh-CN" sz="2800" dirty="0"/>
              <a:t>UI</a:t>
            </a:r>
            <a:r>
              <a:rPr lang="zh-CN" altLang="en-US" sz="2800" dirty="0"/>
              <a:t>可以尝试使用，按 </a:t>
            </a:r>
            <a:r>
              <a:rPr lang="en-US" altLang="zh-CN" sz="2800" dirty="0"/>
              <a:t>Ctrl-x</a:t>
            </a:r>
            <a:r>
              <a:rPr lang="zh-CN" altLang="en-US" sz="2800" dirty="0"/>
              <a:t> </a:t>
            </a:r>
            <a:r>
              <a:rPr lang="en-US" altLang="zh-CN" sz="2800" dirty="0"/>
              <a:t>Ctrl-a</a:t>
            </a:r>
            <a:r>
              <a:rPr lang="zh-CN" altLang="en-US" sz="2800" dirty="0"/>
              <a:t> 进入</a:t>
            </a:r>
            <a:endParaRPr lang="en-US" altLang="zh-CN" sz="2800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4473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/>
          <p:cNvSpPr>
            <a:spLocks noGrp="1" noChangeArrowheads="1"/>
          </p:cNvSpPr>
          <p:nvPr>
            <p:ph type="ctr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Chapter 1 Introduction</a:t>
            </a:r>
          </a:p>
        </p:txBody>
      </p:sp>
      <p:sp>
        <p:nvSpPr>
          <p:cNvPr id="15362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Monotype Sorts" pitchFamily="-84" charset="2"/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039454" y="1505892"/>
            <a:ext cx="6719887" cy="1162050"/>
          </a:xfrm>
          <a:prstGeom prst="rect">
            <a:avLst/>
          </a:prstGeom>
          <a:noFill/>
          <a:ln w="508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CN" sz="2400">
                <a:solidFill>
                  <a:schemeClr val="tx2"/>
                </a:solidFill>
                <a:latin typeface="Book Antiqua" charset="0"/>
                <a:ea typeface="宋体" charset="0"/>
              </a:rPr>
              <a:t>Overview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Outlines for Chapter ONE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/>
              <a:t>What Operating Systems Do</a:t>
            </a:r>
          </a:p>
          <a:p>
            <a:r>
              <a:rPr lang="en-US" altLang="zh-CN" sz="2000"/>
              <a:t>Computer-System Organization</a:t>
            </a:r>
          </a:p>
          <a:p>
            <a:r>
              <a:rPr lang="en-US" altLang="zh-CN" sz="2000"/>
              <a:t>Computer-System Architecture</a:t>
            </a:r>
          </a:p>
          <a:p>
            <a:r>
              <a:rPr lang="en-US" altLang="zh-CN" sz="2000"/>
              <a:t>Operating-System Structure</a:t>
            </a:r>
          </a:p>
          <a:p>
            <a:r>
              <a:rPr lang="en-US" altLang="zh-CN" sz="2000"/>
              <a:t>Operating-System Operations</a:t>
            </a:r>
          </a:p>
          <a:p>
            <a:r>
              <a:rPr lang="en-US" altLang="zh-CN" sz="2000"/>
              <a:t>Process Management</a:t>
            </a:r>
          </a:p>
          <a:p>
            <a:r>
              <a:rPr lang="en-US" altLang="zh-CN" sz="2000"/>
              <a:t>Memory Management</a:t>
            </a:r>
          </a:p>
          <a:p>
            <a:r>
              <a:rPr lang="en-US" altLang="zh-CN" sz="2000"/>
              <a:t>Storage Management</a:t>
            </a:r>
          </a:p>
          <a:p>
            <a:r>
              <a:rPr lang="en-US" altLang="zh-CN" sz="2000">
                <a:solidFill>
                  <a:schemeClr val="bg2"/>
                </a:solidFill>
              </a:rPr>
              <a:t>Protection and Security</a:t>
            </a:r>
          </a:p>
          <a:p>
            <a:r>
              <a:rPr lang="en-US" altLang="zh-CN" sz="2000">
                <a:solidFill>
                  <a:schemeClr val="bg2"/>
                </a:solidFill>
              </a:rPr>
              <a:t>Distributed Systems</a:t>
            </a:r>
          </a:p>
          <a:p>
            <a:r>
              <a:rPr lang="en-US" altLang="zh-CN" sz="2000">
                <a:solidFill>
                  <a:schemeClr val="bg2"/>
                </a:solidFill>
              </a:rPr>
              <a:t>Special-Purpose Systems</a:t>
            </a:r>
          </a:p>
          <a:p>
            <a:r>
              <a:rPr lang="en-US" altLang="zh-CN" sz="2000">
                <a:solidFill>
                  <a:schemeClr val="bg2"/>
                </a:solidFill>
              </a:rPr>
              <a:t>Computing Environments</a:t>
            </a:r>
          </a:p>
          <a:p>
            <a:pPr>
              <a:buFont typeface="Monotype Sorts" pitchFamily="-84" charset="2"/>
              <a:buNone/>
            </a:pPr>
            <a:endParaRPr lang="en-US" altLang="zh-CN" sz="2000">
              <a:solidFill>
                <a:schemeClr val="bg2"/>
              </a:solidFill>
            </a:endParaRPr>
          </a:p>
          <a:p>
            <a:endParaRPr lang="en-US" altLang="zh-CN" sz="2000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1059545" y="2741502"/>
            <a:ext cx="6734175" cy="782638"/>
          </a:xfrm>
          <a:prstGeom prst="rect">
            <a:avLst/>
          </a:prstGeom>
          <a:noFill/>
          <a:ln w="50800">
            <a:solidFill>
              <a:srgbClr val="33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CN" sz="2400">
                <a:solidFill>
                  <a:schemeClr val="tx2"/>
                </a:solidFill>
                <a:latin typeface="Book Antiqua" charset="0"/>
                <a:ea typeface="宋体" charset="0"/>
              </a:rPr>
              <a:t>Structure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1038914" y="3623082"/>
            <a:ext cx="6734175" cy="1173163"/>
          </a:xfrm>
          <a:prstGeom prst="rect">
            <a:avLst/>
          </a:prstGeom>
          <a:noFill/>
          <a:ln w="50800">
            <a:solidFill>
              <a:srgbClr val="99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>
              <a:defRPr/>
            </a:pPr>
            <a:r>
              <a:rPr lang="en-US" altLang="zh-CN" sz="2400">
                <a:solidFill>
                  <a:schemeClr val="tx2"/>
                </a:solidFill>
                <a:latin typeface="Book Antiqua" charset="0"/>
                <a:ea typeface="宋体" charset="0"/>
              </a:rPr>
              <a:t>Main parts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Objectives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/>
              <a:t>To provide a grand tour of the major operating systems components</a:t>
            </a:r>
          </a:p>
          <a:p>
            <a:r>
              <a:rPr lang="en-US" altLang="zh-CN" sz="2000"/>
              <a:t>To provide coverage of basic computer system organization</a:t>
            </a:r>
            <a:endParaRPr lang="zh-CN" altLang="en-US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What is an Operating System?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36913" y="1581150"/>
            <a:ext cx="9463315" cy="4114800"/>
          </a:xfrm>
        </p:spPr>
        <p:txBody>
          <a:bodyPr/>
          <a:lstStyle/>
          <a:p>
            <a:r>
              <a:rPr lang="en-US" altLang="zh-CN" sz="2400" dirty="0"/>
              <a:t>A program that acts as an intermediary between a user of a computer and the computer hardware.</a:t>
            </a:r>
          </a:p>
          <a:p>
            <a:r>
              <a:rPr lang="en-US" altLang="zh-CN" sz="2400" dirty="0"/>
              <a:t>Operating system goals:</a:t>
            </a:r>
          </a:p>
          <a:p>
            <a:pPr lvl="1"/>
            <a:r>
              <a:rPr lang="en-US" altLang="zh-CN" sz="2400" dirty="0"/>
              <a:t>Execute user programs and make solving user problems easier.</a:t>
            </a:r>
          </a:p>
          <a:p>
            <a:pPr lvl="1"/>
            <a:r>
              <a:rPr lang="en-US" altLang="zh-CN" sz="2400" dirty="0"/>
              <a:t>Make the computer system convenient to use.</a:t>
            </a:r>
          </a:p>
          <a:p>
            <a:r>
              <a:rPr lang="en-US" altLang="zh-CN" sz="2400" dirty="0"/>
              <a:t>Use the computer hardware in an efficient manner.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Computer System Structure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1219200"/>
            <a:ext cx="9985828" cy="4746625"/>
          </a:xfrm>
        </p:spPr>
        <p:txBody>
          <a:bodyPr/>
          <a:lstStyle/>
          <a:p>
            <a:r>
              <a:rPr lang="en-US" altLang="zh-CN" sz="2100" dirty="0"/>
              <a:t>Computer system can be divided into four components</a:t>
            </a:r>
          </a:p>
          <a:p>
            <a:pPr lvl="1"/>
            <a:r>
              <a:rPr lang="en-US" altLang="zh-CN" sz="2100" dirty="0"/>
              <a:t>Hardware – provides basic computing resources</a:t>
            </a:r>
          </a:p>
          <a:p>
            <a:pPr lvl="2"/>
            <a:r>
              <a:rPr lang="en-US" altLang="zh-CN" sz="2100" dirty="0"/>
              <a:t>CPU, memory, I/O devices</a:t>
            </a:r>
          </a:p>
          <a:p>
            <a:pPr lvl="1"/>
            <a:r>
              <a:rPr lang="en-US" altLang="zh-CN" sz="2100" dirty="0"/>
              <a:t>Operating system</a:t>
            </a:r>
          </a:p>
          <a:p>
            <a:pPr lvl="2"/>
            <a:r>
              <a:rPr lang="en-US" altLang="zh-CN" sz="2100" dirty="0"/>
              <a:t>Controls and coordinates use of hardware among various applications and users</a:t>
            </a:r>
          </a:p>
          <a:p>
            <a:pPr lvl="1"/>
            <a:r>
              <a:rPr lang="en-US" altLang="zh-CN" sz="2100" dirty="0"/>
              <a:t>System &amp; application programs – define the ways in which the system resources are used to solve the computing problems of the users</a:t>
            </a:r>
          </a:p>
          <a:p>
            <a:pPr lvl="2"/>
            <a:r>
              <a:rPr lang="en-US" altLang="zh-CN" sz="2100" dirty="0"/>
              <a:t>Word processors, compilers, web browsers, database systems, video games</a:t>
            </a:r>
          </a:p>
          <a:p>
            <a:pPr lvl="1"/>
            <a:r>
              <a:rPr lang="en-US" altLang="zh-CN" sz="2100" dirty="0"/>
              <a:t>Users</a:t>
            </a:r>
          </a:p>
          <a:p>
            <a:pPr lvl="2"/>
            <a:r>
              <a:rPr lang="en-US" altLang="zh-CN" sz="2100" dirty="0"/>
              <a:t>People, machines, other computers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Four Components of a Computer System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6" t="523" r="4706" b="653"/>
          <a:stretch>
            <a:fillRect/>
          </a:stretch>
        </p:blipFill>
        <p:spPr bwMode="auto">
          <a:xfrm>
            <a:off x="2436132" y="1061357"/>
            <a:ext cx="7319735" cy="529194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Operating System Definition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09486" y="1507672"/>
            <a:ext cx="9405257" cy="4265613"/>
          </a:xfrm>
        </p:spPr>
        <p:txBody>
          <a:bodyPr/>
          <a:lstStyle/>
          <a:p>
            <a:r>
              <a:rPr lang="en-US" altLang="zh-CN" sz="2400" dirty="0"/>
              <a:t>OS is a </a:t>
            </a:r>
            <a:r>
              <a:rPr lang="en-US" altLang="zh-CN" sz="2400" b="1" dirty="0"/>
              <a:t>resource allocator</a:t>
            </a:r>
          </a:p>
          <a:p>
            <a:pPr lvl="1"/>
            <a:r>
              <a:rPr lang="en-US" altLang="zh-CN" sz="2400" dirty="0"/>
              <a:t>Manages all resources</a:t>
            </a:r>
          </a:p>
          <a:p>
            <a:pPr lvl="1"/>
            <a:r>
              <a:rPr lang="en-US" altLang="zh-CN" sz="2400" dirty="0"/>
              <a:t>Decides between conflicting requests for efficient and fair resource use</a:t>
            </a:r>
          </a:p>
          <a:p>
            <a:r>
              <a:rPr lang="en-US" altLang="zh-CN" sz="2400" dirty="0"/>
              <a:t>OS is a </a:t>
            </a:r>
            <a:r>
              <a:rPr lang="en-US" altLang="zh-CN" sz="2400" b="1" dirty="0"/>
              <a:t>control program</a:t>
            </a:r>
          </a:p>
          <a:p>
            <a:pPr lvl="1"/>
            <a:r>
              <a:rPr lang="en-US" altLang="zh-CN" sz="2400" dirty="0"/>
              <a:t>Controls execution of programs to prevent errors and improper use of the computer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Operating System Definition (Cont.)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3888" y="1706564"/>
            <a:ext cx="9768114" cy="3133725"/>
          </a:xfrm>
        </p:spPr>
        <p:txBody>
          <a:bodyPr/>
          <a:lstStyle/>
          <a:p>
            <a:r>
              <a:rPr lang="en-US" altLang="zh-CN" sz="2400" dirty="0"/>
              <a:t>No universally accepted definition</a:t>
            </a:r>
          </a:p>
          <a:p>
            <a:r>
              <a:rPr lang="en-US" altLang="zh-CN" sz="2400" dirty="0"/>
              <a:t>“Everything a vendor ships when you order an operating system” is good approximation</a:t>
            </a:r>
          </a:p>
          <a:p>
            <a:pPr lvl="1"/>
            <a:r>
              <a:rPr lang="en-US" altLang="zh-CN" sz="2400" dirty="0"/>
              <a:t>But varies wildly</a:t>
            </a:r>
          </a:p>
          <a:p>
            <a:r>
              <a:rPr lang="en-US" altLang="zh-CN" sz="2400" dirty="0"/>
              <a:t>“The one program running at all times on the computer” is the </a:t>
            </a:r>
            <a:r>
              <a:rPr lang="en-US" altLang="zh-CN" sz="2400" b="1" dirty="0"/>
              <a:t>kernel.  </a:t>
            </a:r>
            <a:r>
              <a:rPr lang="en-US" altLang="zh-CN" sz="2400" dirty="0"/>
              <a:t>Everything else is either a system program (ships with the operating system) or an application program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Computer Startup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145" y="1407886"/>
            <a:ext cx="10769600" cy="4571043"/>
          </a:xfrm>
        </p:spPr>
        <p:txBody>
          <a:bodyPr/>
          <a:lstStyle/>
          <a:p>
            <a:r>
              <a:rPr lang="en-US" altLang="zh-CN" sz="2400" b="1" dirty="0"/>
              <a:t>bootstrap program</a:t>
            </a:r>
            <a:r>
              <a:rPr lang="en-US" altLang="zh-CN" sz="2400" dirty="0"/>
              <a:t> is loaded at power-up or reboot</a:t>
            </a:r>
          </a:p>
          <a:p>
            <a:pPr lvl="1"/>
            <a:r>
              <a:rPr lang="en-US" altLang="zh-CN" sz="2400" dirty="0"/>
              <a:t>Typically stored in ROM or EPROM, generally known as </a:t>
            </a:r>
            <a:r>
              <a:rPr lang="en-US" altLang="zh-CN" sz="2400" b="1" dirty="0"/>
              <a:t>firmware</a:t>
            </a:r>
          </a:p>
          <a:p>
            <a:pPr lvl="1"/>
            <a:r>
              <a:rPr lang="en-US" altLang="zh-CN" sz="2400" dirty="0"/>
              <a:t>Initializes all aspects of system</a:t>
            </a:r>
          </a:p>
          <a:p>
            <a:pPr lvl="1"/>
            <a:r>
              <a:rPr lang="en-US" altLang="zh-CN" sz="2400" dirty="0"/>
              <a:t>Loads operating system kernel and starts execution</a:t>
            </a:r>
          </a:p>
        </p:txBody>
      </p:sp>
      <p:pic>
        <p:nvPicPr>
          <p:cNvPr id="31747" name="Picture 4" descr="boo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058" y="3882798"/>
            <a:ext cx="3621995" cy="253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7" name="Oval 5"/>
          <p:cNvSpPr>
            <a:spLocks noChangeArrowheads="1"/>
          </p:cNvSpPr>
          <p:nvPr/>
        </p:nvSpPr>
        <p:spPr bwMode="auto">
          <a:xfrm>
            <a:off x="5726794" y="3991656"/>
            <a:ext cx="390525" cy="3476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Helvetica" charset="0"/>
              <a:ea typeface="宋体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9621000" y="5886000"/>
              <a:ext cx="360" cy="36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11640" y="58766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Computer System Organization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3631" y="1305152"/>
            <a:ext cx="9528628" cy="4483100"/>
          </a:xfrm>
        </p:spPr>
        <p:txBody>
          <a:bodyPr/>
          <a:lstStyle/>
          <a:p>
            <a:r>
              <a:rPr lang="en-US" altLang="zh-CN" sz="2000" dirty="0"/>
              <a:t>Computer-system operation</a:t>
            </a:r>
          </a:p>
          <a:p>
            <a:pPr lvl="1"/>
            <a:r>
              <a:rPr lang="en-US" altLang="zh-CN" sz="2000" dirty="0"/>
              <a:t>One or more CPUs, device controllers connect through common bus providing access to shared memory</a:t>
            </a:r>
          </a:p>
          <a:p>
            <a:pPr lvl="1"/>
            <a:r>
              <a:rPr lang="en-US" altLang="zh-CN" sz="2000" dirty="0"/>
              <a:t>Concurrent execution of CPUs and devices competing for memory cycles</a:t>
            </a:r>
          </a:p>
          <a:p>
            <a:pPr lvl="1"/>
            <a:endParaRPr lang="zh-CN" altLang="en-US" sz="2000" dirty="0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" t="17949" r="427" b="17664"/>
          <a:stretch>
            <a:fillRect/>
          </a:stretch>
        </p:blipFill>
        <p:spPr bwMode="auto">
          <a:xfrm>
            <a:off x="2620964" y="3074988"/>
            <a:ext cx="6675437" cy="32512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Computer-System Operation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2231" y="1592257"/>
            <a:ext cx="9071428" cy="4483100"/>
          </a:xfrm>
        </p:spPr>
        <p:txBody>
          <a:bodyPr/>
          <a:lstStyle/>
          <a:p>
            <a:r>
              <a:rPr lang="en-US" altLang="zh-CN" sz="2400" dirty="0"/>
              <a:t>I/O devices and the CPU can execute concurrently.</a:t>
            </a:r>
          </a:p>
          <a:p>
            <a:r>
              <a:rPr lang="en-US" altLang="zh-CN" sz="2400" dirty="0"/>
              <a:t>Each device controller is in charge of a particular device type.</a:t>
            </a:r>
          </a:p>
          <a:p>
            <a:r>
              <a:rPr lang="en-US" altLang="zh-CN" sz="2400" dirty="0"/>
              <a:t>Each device controller has a </a:t>
            </a:r>
            <a:r>
              <a:rPr lang="en-US" altLang="zh-CN" sz="2400" dirty="0">
                <a:solidFill>
                  <a:srgbClr val="FF0000"/>
                </a:solidFill>
              </a:rPr>
              <a:t>local buffer</a:t>
            </a:r>
            <a:r>
              <a:rPr lang="en-US" altLang="zh-CN" sz="2400" dirty="0"/>
              <a:t>.</a:t>
            </a:r>
          </a:p>
          <a:p>
            <a:r>
              <a:rPr lang="en-US" altLang="zh-CN" sz="2400" dirty="0"/>
              <a:t>CPU moves data from/to main memory to/from local buffers</a:t>
            </a:r>
          </a:p>
          <a:p>
            <a:r>
              <a:rPr lang="en-US" altLang="zh-CN" sz="2400" dirty="0"/>
              <a:t>I/O is from the device to local buffer of controller.</a:t>
            </a:r>
          </a:p>
          <a:p>
            <a:r>
              <a:rPr lang="en-US" altLang="zh-CN" sz="2400" dirty="0"/>
              <a:t>Device controller informs CPU that it has finished its operation by causing an </a:t>
            </a:r>
            <a:r>
              <a:rPr lang="en-US" altLang="zh-CN" sz="2400" i="1" dirty="0"/>
              <a:t>interrupt </a:t>
            </a:r>
            <a:r>
              <a:rPr lang="en-US" altLang="zh-CN" sz="2400" dirty="0">
                <a:solidFill>
                  <a:srgbClr val="FF0000"/>
                </a:solidFill>
              </a:rPr>
              <a:t>(via system bus)</a:t>
            </a:r>
            <a:r>
              <a:rPr lang="en-US" altLang="zh-CN" sz="2400"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695" y="1326475"/>
            <a:ext cx="5970754" cy="447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91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Common Functions of Interrupts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 dirty="0"/>
              <a:t>Interrupt transfers control to the interrupt service routine generally, through the </a:t>
            </a:r>
            <a:r>
              <a:rPr lang="en-US" altLang="zh-CN" sz="2000" i="1" dirty="0">
                <a:solidFill>
                  <a:srgbClr val="FF0000"/>
                </a:solidFill>
              </a:rPr>
              <a:t>interrupt vector</a:t>
            </a:r>
            <a:r>
              <a:rPr lang="en-US" altLang="zh-CN" sz="2000" dirty="0"/>
              <a:t>, which contains the addresses of all the service routines.</a:t>
            </a:r>
          </a:p>
          <a:p>
            <a:r>
              <a:rPr lang="en-US" altLang="zh-CN" sz="2000" dirty="0"/>
              <a:t>Interrupt architecture must save the address of the interrupted instruction.</a:t>
            </a:r>
          </a:p>
          <a:p>
            <a:r>
              <a:rPr lang="en-US" altLang="zh-CN" sz="2000" dirty="0"/>
              <a:t>Incoming interrupts are </a:t>
            </a:r>
            <a:r>
              <a:rPr lang="en-US" altLang="zh-CN" sz="2000" i="1" dirty="0"/>
              <a:t>disabled</a:t>
            </a:r>
            <a:r>
              <a:rPr lang="en-US" altLang="zh-CN" sz="2000" dirty="0"/>
              <a:t> while another interrupt is being processed to prevent a </a:t>
            </a:r>
            <a:r>
              <a:rPr lang="en-US" altLang="zh-CN" sz="2000" i="1" dirty="0"/>
              <a:t>lost interrupt</a:t>
            </a:r>
            <a:r>
              <a:rPr lang="en-US" altLang="zh-CN" sz="2000" dirty="0"/>
              <a:t>.</a:t>
            </a:r>
          </a:p>
          <a:p>
            <a:r>
              <a:rPr lang="en-US" altLang="zh-CN" sz="2000" dirty="0"/>
              <a:t>A </a:t>
            </a:r>
            <a:r>
              <a:rPr lang="en-US" altLang="zh-CN" sz="2000" i="1" dirty="0">
                <a:solidFill>
                  <a:srgbClr val="FF0000"/>
                </a:solidFill>
              </a:rPr>
              <a:t>trap</a:t>
            </a:r>
            <a:r>
              <a:rPr lang="en-US" altLang="zh-CN" sz="2000" dirty="0"/>
              <a:t> is a software-generated interrupt caused either by an </a:t>
            </a:r>
            <a:r>
              <a:rPr lang="en-US" altLang="zh-CN" sz="2000" dirty="0">
                <a:solidFill>
                  <a:srgbClr val="FF0000"/>
                </a:solidFill>
              </a:rPr>
              <a:t>error</a:t>
            </a:r>
            <a:r>
              <a:rPr lang="en-US" altLang="zh-CN" sz="2000" dirty="0"/>
              <a:t> or a </a:t>
            </a:r>
            <a:r>
              <a:rPr lang="en-US" altLang="zh-CN" sz="2000" dirty="0">
                <a:solidFill>
                  <a:srgbClr val="FF0000"/>
                </a:solidFill>
              </a:rPr>
              <a:t>user request</a:t>
            </a:r>
            <a:r>
              <a:rPr lang="en-US" altLang="zh-CN" sz="2000" dirty="0"/>
              <a:t> (the latter is often referred to as a </a:t>
            </a:r>
            <a:r>
              <a:rPr lang="en-US" altLang="zh-CN" sz="2000" i="1" dirty="0">
                <a:solidFill>
                  <a:srgbClr val="FF0000"/>
                </a:solidFill>
              </a:rPr>
              <a:t>system call</a:t>
            </a:r>
            <a:r>
              <a:rPr lang="en-US" altLang="zh-CN" sz="2000" dirty="0"/>
              <a:t>). Note: names may vary across different architectures.</a:t>
            </a:r>
          </a:p>
          <a:p>
            <a:r>
              <a:rPr lang="en-US" altLang="zh-CN" sz="2000" dirty="0"/>
              <a:t>An operating system is </a:t>
            </a:r>
            <a:r>
              <a:rPr lang="en-US" altLang="zh-CN" sz="2000" i="1" dirty="0">
                <a:solidFill>
                  <a:srgbClr val="FF0000"/>
                </a:solidFill>
              </a:rPr>
              <a:t>interrupt</a:t>
            </a:r>
            <a:r>
              <a:rPr lang="en-US" altLang="zh-CN" sz="2000" dirty="0"/>
              <a:t> driven.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706140" y="4717775"/>
            <a:ext cx="3722715" cy="2055191"/>
            <a:chOff x="6182140" y="4717774"/>
            <a:chExt cx="2796208" cy="2055191"/>
          </a:xfrm>
        </p:grpSpPr>
        <p:sp>
          <p:nvSpPr>
            <p:cNvPr id="2" name="对话气泡: 矩形 1">
              <a:extLst>
                <a:ext uri="{FF2B5EF4-FFF2-40B4-BE49-F238E27FC236}">
                  <a16:creationId xmlns:a16="http://schemas.microsoft.com/office/drawing/2014/main" id="{44307D4F-C1A0-4F58-8D80-8AFEE2A4DDC6}"/>
                </a:ext>
              </a:extLst>
            </p:cNvPr>
            <p:cNvSpPr/>
            <p:nvPr/>
          </p:nvSpPr>
          <p:spPr bwMode="auto">
            <a:xfrm>
              <a:off x="6182140" y="4717774"/>
              <a:ext cx="2796208" cy="1815548"/>
            </a:xfrm>
            <a:prstGeom prst="wedgeRectCallout">
              <a:avLst>
                <a:gd name="adj1" fmla="val -56478"/>
                <a:gd name="adj2" fmla="val -34128"/>
              </a:avLst>
            </a:prstGeom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1001">
              <a:schemeClr val="lt2"/>
            </a:fillRef>
            <a:effectRef idx="0">
              <a:scrgbClr r="0" g="0" b="0"/>
            </a:effectRef>
            <a:fontRef idx="major"/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dirty="0">
                  <a:solidFill>
                    <a:srgbClr val="FFFFFF"/>
                  </a:solidFill>
                  <a:latin typeface="Helvetica" charset="0"/>
                  <a:ea typeface="宋体" charset="0"/>
                </a:rPr>
                <a:t>Note: RISC-V terms</a:t>
              </a:r>
              <a:endParaRPr lang="zh-CN" altLang="en-US" dirty="0">
                <a:solidFill>
                  <a:srgbClr val="FFFFFF"/>
                </a:solidFill>
                <a:latin typeface="Helvetica" charset="0"/>
                <a:ea typeface="宋体" charset="0"/>
              </a:endParaRPr>
            </a:p>
          </p:txBody>
        </p:sp>
        <p:graphicFrame>
          <p:nvGraphicFramePr>
            <p:cNvPr id="3" name="图示 2">
              <a:extLst>
                <a:ext uri="{FF2B5EF4-FFF2-40B4-BE49-F238E27FC236}">
                  <a16:creationId xmlns:a16="http://schemas.microsoft.com/office/drawing/2014/main" id="{F6B2D671-41E2-4393-B86C-E590518FD59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64511418"/>
                </p:ext>
              </p:extLst>
            </p:nvPr>
          </p:nvGraphicFramePr>
          <p:xfrm>
            <a:off x="6248400" y="4758635"/>
            <a:ext cx="2663687" cy="201433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25" y="0"/>
            <a:ext cx="7772400" cy="844550"/>
          </a:xfrm>
        </p:spPr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Interrupt Handling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dirty="0"/>
              <a:t>The operating system preserves the state of the CPU by storing </a:t>
            </a:r>
            <a:r>
              <a:rPr lang="en-US" altLang="zh-CN" sz="2400" dirty="0">
                <a:solidFill>
                  <a:srgbClr val="FF3300"/>
                </a:solidFill>
              </a:rPr>
              <a:t>registers</a:t>
            </a:r>
            <a:r>
              <a:rPr lang="en-US" altLang="zh-CN" sz="2400" dirty="0"/>
              <a:t> and the </a:t>
            </a:r>
            <a:r>
              <a:rPr lang="en-US" altLang="zh-CN" sz="2400" dirty="0">
                <a:solidFill>
                  <a:srgbClr val="FF3300"/>
                </a:solidFill>
              </a:rPr>
              <a:t>program counter</a:t>
            </a:r>
            <a:r>
              <a:rPr lang="en-US" altLang="zh-CN" sz="2400" dirty="0"/>
              <a:t>.</a:t>
            </a:r>
          </a:p>
          <a:p>
            <a:r>
              <a:rPr lang="en-US" altLang="zh-CN" sz="2400" dirty="0"/>
              <a:t>Determines which type of interrupt has occurred:</a:t>
            </a:r>
          </a:p>
          <a:p>
            <a:pPr lvl="1"/>
            <a:r>
              <a:rPr lang="en-US" altLang="zh-CN" sz="2400" dirty="0"/>
              <a:t>a generic routine examines the interrupt info</a:t>
            </a:r>
          </a:p>
          <a:p>
            <a:pPr lvl="1"/>
            <a:r>
              <a:rPr lang="en-US" altLang="zh-CN" sz="2400" i="1" dirty="0">
                <a:solidFill>
                  <a:srgbClr val="FF3300"/>
                </a:solidFill>
              </a:rPr>
              <a:t>vectored</a:t>
            </a:r>
            <a:r>
              <a:rPr lang="en-US" altLang="zh-CN" sz="2400" dirty="0"/>
              <a:t> interrupt system, indexed by a unique number</a:t>
            </a:r>
          </a:p>
          <a:p>
            <a:r>
              <a:rPr lang="en-US" altLang="zh-CN" sz="2400" dirty="0"/>
              <a:t>Separate segments of code determine what action should be taken for each type of interrupt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Interrupt Timeline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E173DA7-B99D-4F08-A026-D1C2892EB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88" y="1021099"/>
            <a:ext cx="10994571" cy="55448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F5376-AA92-4807-8CB2-5B51FFF1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Interrupt-Driven I/O Cycle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FDCDE6-8A7D-47D8-844F-C813E1548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126" y="838200"/>
            <a:ext cx="6965748" cy="623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0669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I/O Structure – 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Two I/O Methods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6971" y="1438728"/>
            <a:ext cx="10218058" cy="398054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100" dirty="0"/>
              <a:t>After I/O starts, control returns to user program </a:t>
            </a:r>
            <a:r>
              <a:rPr lang="en-US" altLang="zh-CN" sz="2100" dirty="0">
                <a:solidFill>
                  <a:srgbClr val="FF0000"/>
                </a:solidFill>
              </a:rPr>
              <a:t>only upon I/O completion</a:t>
            </a:r>
            <a:r>
              <a:rPr lang="en-US" altLang="zh-CN" sz="21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CN" sz="2100" dirty="0"/>
              <a:t>Wait instruction idles the CPU until the next interrupt</a:t>
            </a:r>
          </a:p>
          <a:p>
            <a:pPr lvl="1">
              <a:lnSpc>
                <a:spcPct val="90000"/>
              </a:lnSpc>
            </a:pPr>
            <a:r>
              <a:rPr lang="en-US" altLang="zh-CN" sz="2100" dirty="0"/>
              <a:t>Wait loop (contention for memory access).</a:t>
            </a:r>
          </a:p>
          <a:p>
            <a:pPr lvl="1">
              <a:lnSpc>
                <a:spcPct val="90000"/>
              </a:lnSpc>
            </a:pPr>
            <a:r>
              <a:rPr lang="en-US" altLang="zh-CN" sz="2100" dirty="0"/>
              <a:t>At most one I/O request is outstanding at a time, no simultaneous I/O processing.</a:t>
            </a:r>
          </a:p>
          <a:p>
            <a:pPr>
              <a:lnSpc>
                <a:spcPct val="90000"/>
              </a:lnSpc>
            </a:pPr>
            <a:r>
              <a:rPr lang="en-US" altLang="zh-CN" sz="2100" dirty="0"/>
              <a:t>After I/O starts, control returns to user program </a:t>
            </a:r>
            <a:r>
              <a:rPr lang="en-US" altLang="zh-CN" sz="2100" dirty="0">
                <a:solidFill>
                  <a:srgbClr val="FF0000"/>
                </a:solidFill>
              </a:rPr>
              <a:t>without waiting for I/O completion</a:t>
            </a:r>
            <a:r>
              <a:rPr lang="en-US" altLang="zh-CN" sz="21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CN" sz="2100" i="1" dirty="0"/>
              <a:t>System call</a:t>
            </a:r>
            <a:r>
              <a:rPr lang="en-US" altLang="zh-CN" sz="2100" dirty="0"/>
              <a:t> – request to the operating system to allow user to wait for I/O completion.</a:t>
            </a:r>
          </a:p>
          <a:p>
            <a:pPr lvl="1">
              <a:lnSpc>
                <a:spcPct val="90000"/>
              </a:lnSpc>
            </a:pPr>
            <a:r>
              <a:rPr lang="en-US" altLang="zh-CN" sz="2100" i="1" dirty="0"/>
              <a:t>Device-status table</a:t>
            </a:r>
            <a:r>
              <a:rPr lang="en-US" altLang="zh-CN" sz="2100" dirty="0"/>
              <a:t> contains entry for each I/O device indicating its type, address, and state.</a:t>
            </a:r>
          </a:p>
          <a:p>
            <a:pPr lvl="1">
              <a:lnSpc>
                <a:spcPct val="90000"/>
              </a:lnSpc>
            </a:pPr>
            <a:endParaRPr lang="zh-CN" alt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Two I/O Methods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3079978" y="1307759"/>
            <a:ext cx="151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dirty="0">
                <a:latin typeface="Helvetica" charset="0"/>
                <a:ea typeface="宋体" charset="0"/>
                <a:cs typeface="宋体" charset="0"/>
              </a:rPr>
              <a:t>Synchronous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7189787" y="1307759"/>
            <a:ext cx="163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dirty="0">
                <a:latin typeface="Helvetica" charset="0"/>
                <a:ea typeface="宋体" charset="0"/>
                <a:cs typeface="宋体" charset="0"/>
              </a:rPr>
              <a:t>Asynchronous</a:t>
            </a:r>
          </a:p>
        </p:txBody>
      </p:sp>
      <p:pic>
        <p:nvPicPr>
          <p:cNvPr id="6349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" t="22591" r="568" b="22527"/>
          <a:stretch>
            <a:fillRect/>
          </a:stretch>
        </p:blipFill>
        <p:spPr bwMode="auto">
          <a:xfrm>
            <a:off x="1414463" y="1926999"/>
            <a:ext cx="9198608" cy="408282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Device-Status Table</a:t>
            </a:r>
          </a:p>
        </p:txBody>
      </p:sp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" t="15446" r="728" b="15446"/>
          <a:stretch>
            <a:fillRect/>
          </a:stretch>
        </p:blipFill>
        <p:spPr bwMode="auto">
          <a:xfrm>
            <a:off x="2671763" y="1465263"/>
            <a:ext cx="7326312" cy="4100512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Direct Memory Access Structure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dirty="0"/>
              <a:t>Used for high-speed I/O devices able to transmit information at close to memory speeds.</a:t>
            </a:r>
          </a:p>
          <a:p>
            <a:r>
              <a:rPr lang="en-US" altLang="zh-CN" sz="2400" dirty="0"/>
              <a:t>Device controller transfers blocks of data from buffer storage directly to main memory </a:t>
            </a:r>
            <a:r>
              <a:rPr lang="en-US" altLang="zh-CN" sz="2400" dirty="0">
                <a:solidFill>
                  <a:srgbClr val="FF3300"/>
                </a:solidFill>
              </a:rPr>
              <a:t>without</a:t>
            </a:r>
            <a:r>
              <a:rPr lang="en-US" altLang="zh-CN" sz="2400" dirty="0"/>
              <a:t> CPU intervention.</a:t>
            </a:r>
          </a:p>
          <a:p>
            <a:r>
              <a:rPr lang="en-US" altLang="zh-CN" sz="2400" dirty="0"/>
              <a:t>Only one interrupt is generated </a:t>
            </a:r>
            <a:r>
              <a:rPr lang="en-US" altLang="zh-CN" sz="2400" dirty="0">
                <a:solidFill>
                  <a:srgbClr val="FF3300"/>
                </a:solidFill>
              </a:rPr>
              <a:t>per block</a:t>
            </a:r>
            <a:r>
              <a:rPr lang="en-US" altLang="zh-CN" sz="2400" dirty="0"/>
              <a:t>, rather than the one interrupt per byte.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Storage Structure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/>
              <a:t>Main memory – only large storage media that the CPU can access directly.</a:t>
            </a:r>
          </a:p>
          <a:p>
            <a:r>
              <a:rPr lang="en-US" altLang="zh-CN" sz="2000"/>
              <a:t>Secondary storage – extension of main memory that provides large nonvolatile storage capacity.</a:t>
            </a:r>
          </a:p>
          <a:p>
            <a:r>
              <a:rPr lang="en-US" altLang="zh-CN" sz="2000"/>
              <a:t>Magnetic disks – rigid metal or glass platters covered with magnetic recording material </a:t>
            </a:r>
          </a:p>
          <a:p>
            <a:pPr lvl="1"/>
            <a:r>
              <a:rPr lang="en-US" altLang="zh-CN" sz="2000"/>
              <a:t>Disk surface is logically divided into </a:t>
            </a:r>
            <a:r>
              <a:rPr lang="en-US" altLang="zh-CN" sz="2000" i="1"/>
              <a:t>tracks</a:t>
            </a:r>
            <a:r>
              <a:rPr lang="en-US" altLang="zh-CN" sz="2000"/>
              <a:t>, which are subdivided into </a:t>
            </a:r>
            <a:r>
              <a:rPr lang="en-US" altLang="zh-CN" sz="2000" i="1"/>
              <a:t>sectors</a:t>
            </a:r>
            <a:r>
              <a:rPr lang="en-US" altLang="zh-CN" sz="2000"/>
              <a:t>.</a:t>
            </a:r>
          </a:p>
          <a:p>
            <a:pPr lvl="1"/>
            <a:r>
              <a:rPr lang="en-US" altLang="zh-CN" sz="2000"/>
              <a:t>The </a:t>
            </a:r>
            <a:r>
              <a:rPr lang="en-US" altLang="zh-CN" sz="2000" i="1"/>
              <a:t>disk controller</a:t>
            </a:r>
            <a:r>
              <a:rPr lang="en-US" altLang="zh-CN" sz="2000"/>
              <a:t> determines the logical interaction between the device and the computer.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Storage Hierarchy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171" y="1524857"/>
            <a:ext cx="9826172" cy="4483100"/>
          </a:xfrm>
        </p:spPr>
        <p:txBody>
          <a:bodyPr/>
          <a:lstStyle/>
          <a:p>
            <a:r>
              <a:rPr lang="en-US" altLang="zh-CN" sz="2400" dirty="0"/>
              <a:t>Storage systems organized in hierarchy.</a:t>
            </a:r>
          </a:p>
          <a:p>
            <a:pPr lvl="1"/>
            <a:r>
              <a:rPr lang="en-US" altLang="zh-CN" sz="2400" dirty="0"/>
              <a:t>Speed</a:t>
            </a:r>
          </a:p>
          <a:p>
            <a:pPr lvl="1"/>
            <a:r>
              <a:rPr lang="en-US" altLang="zh-CN" sz="2400" dirty="0"/>
              <a:t>Cost</a:t>
            </a:r>
          </a:p>
          <a:p>
            <a:pPr lvl="1"/>
            <a:r>
              <a:rPr lang="en-US" altLang="zh-CN" sz="2400" dirty="0"/>
              <a:t>Volatility</a:t>
            </a:r>
          </a:p>
          <a:p>
            <a:r>
              <a:rPr lang="en-US" altLang="zh-CN" sz="2400" i="1" dirty="0"/>
              <a:t>Caching</a:t>
            </a:r>
            <a:r>
              <a:rPr lang="en-US" altLang="zh-CN" sz="2400" dirty="0"/>
              <a:t> – copying information into faster storage system; main memory can be viewed as a last </a:t>
            </a:r>
            <a:r>
              <a:rPr lang="en-US" altLang="zh-CN" sz="2400" i="1" dirty="0"/>
              <a:t>cache</a:t>
            </a:r>
            <a:r>
              <a:rPr lang="en-US" altLang="zh-CN" sz="2400" dirty="0"/>
              <a:t> for secondary storage.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Storage-Device Hierarchy</a:t>
            </a:r>
          </a:p>
        </p:txBody>
      </p:sp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4" t="510" r="5736" b="510"/>
          <a:stretch>
            <a:fillRect/>
          </a:stretch>
        </p:blipFill>
        <p:spPr bwMode="auto">
          <a:xfrm>
            <a:off x="2212861" y="936625"/>
            <a:ext cx="7766278" cy="56927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Caching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 dirty="0"/>
              <a:t>Important principle, performed at many levels in a computer (in hardware, operating system, software)</a:t>
            </a:r>
          </a:p>
          <a:p>
            <a:r>
              <a:rPr lang="en-US" altLang="zh-CN" sz="2000" dirty="0"/>
              <a:t>Information in use copied from slower to faster storage temporarily – </a:t>
            </a:r>
            <a:r>
              <a:rPr lang="en-US" altLang="zh-CN" sz="2000" dirty="0">
                <a:solidFill>
                  <a:srgbClr val="FF0000"/>
                </a:solidFill>
              </a:rPr>
              <a:t>Speed mismatch</a:t>
            </a:r>
          </a:p>
          <a:p>
            <a:r>
              <a:rPr lang="en-US" altLang="zh-CN" sz="2000" dirty="0"/>
              <a:t>Faster storage (cache) checked first to determine if information is there</a:t>
            </a:r>
          </a:p>
          <a:p>
            <a:pPr lvl="1"/>
            <a:r>
              <a:rPr lang="en-US" altLang="zh-CN" sz="2000" dirty="0"/>
              <a:t>If it is, information used directly from the cache (fast)</a:t>
            </a:r>
          </a:p>
          <a:p>
            <a:pPr lvl="1"/>
            <a:r>
              <a:rPr lang="en-US" altLang="zh-CN" sz="2000" dirty="0"/>
              <a:t>If not, data copied to cache and used there</a:t>
            </a:r>
          </a:p>
          <a:p>
            <a:r>
              <a:rPr lang="en-US" altLang="zh-CN" sz="2000" dirty="0"/>
              <a:t>Cache smaller than storage being cached</a:t>
            </a:r>
          </a:p>
          <a:p>
            <a:pPr lvl="1"/>
            <a:r>
              <a:rPr lang="en-US" altLang="zh-CN" sz="2000" dirty="0"/>
              <a:t>Cache management important design problem</a:t>
            </a:r>
          </a:p>
          <a:p>
            <a:pPr lvl="1"/>
            <a:r>
              <a:rPr lang="en-US" altLang="zh-CN" sz="2000" dirty="0"/>
              <a:t>Cache size and replacement policy</a:t>
            </a:r>
          </a:p>
          <a:p>
            <a:pPr>
              <a:buFont typeface="Monotype Sorts" pitchFamily="-84" charset="2"/>
              <a:buNone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Performance of Various Levels of Storage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/>
              <a:t>Movement between levels of storage hierarchy can be explicit or implicit</a:t>
            </a:r>
          </a:p>
        </p:txBody>
      </p:sp>
      <p:pic>
        <p:nvPicPr>
          <p:cNvPr id="1126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" t="23097" r="787" b="22835"/>
          <a:stretch>
            <a:fillRect/>
          </a:stretch>
        </p:blipFill>
        <p:spPr bwMode="auto">
          <a:xfrm>
            <a:off x="2185988" y="2055814"/>
            <a:ext cx="8126412" cy="33416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Migration of Integer A from Disk to Register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dirty="0">
                <a:solidFill>
                  <a:srgbClr val="FF3300"/>
                </a:solidFill>
              </a:rPr>
              <a:t>Multitasking </a:t>
            </a:r>
            <a:r>
              <a:rPr lang="en-US" altLang="zh-CN" sz="2400" dirty="0"/>
              <a:t>environments must be careful to use most recent value, no matter where it is stored in the storage hierarchy</a:t>
            </a:r>
            <a:br>
              <a:rPr lang="en-US" altLang="zh-CN" sz="2400" dirty="0"/>
            </a:br>
            <a:br>
              <a:rPr lang="en-US" altLang="zh-CN" sz="2400" dirty="0"/>
            </a:br>
            <a:br>
              <a:rPr lang="en-US" altLang="zh-CN" sz="2400" dirty="0"/>
            </a:br>
            <a:br>
              <a:rPr lang="en-US" altLang="zh-CN" sz="2400" dirty="0"/>
            </a:br>
            <a:br>
              <a:rPr lang="en-US" altLang="zh-CN" sz="2400" dirty="0"/>
            </a:br>
            <a:br>
              <a:rPr lang="en-US" altLang="zh-CN" sz="2400" dirty="0"/>
            </a:br>
            <a:endParaRPr lang="en-US" altLang="zh-CN" sz="2400" dirty="0"/>
          </a:p>
          <a:p>
            <a:r>
              <a:rPr lang="en-US" altLang="zh-CN" sz="2400" dirty="0">
                <a:solidFill>
                  <a:srgbClr val="FF3300"/>
                </a:solidFill>
              </a:rPr>
              <a:t>Multiprocessor</a:t>
            </a:r>
            <a:r>
              <a:rPr lang="en-US" altLang="zh-CN" sz="2400" dirty="0"/>
              <a:t> environment must provide </a:t>
            </a:r>
            <a:r>
              <a:rPr lang="en-US" altLang="zh-CN" sz="2400" dirty="0">
                <a:solidFill>
                  <a:srgbClr val="FF3300"/>
                </a:solidFill>
              </a:rPr>
              <a:t>cache coherency</a:t>
            </a:r>
            <a:r>
              <a:rPr lang="en-US" altLang="zh-CN" sz="2400" dirty="0"/>
              <a:t> in hardware such that all CPUs have the most recent value in their cache</a:t>
            </a:r>
          </a:p>
          <a:p>
            <a:endParaRPr lang="en-US" altLang="zh-CN" sz="2400" dirty="0"/>
          </a:p>
        </p:txBody>
      </p:sp>
      <p:pic>
        <p:nvPicPr>
          <p:cNvPr id="860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" t="41441" r="386" b="41183"/>
          <a:stretch>
            <a:fillRect/>
          </a:stretch>
        </p:blipFill>
        <p:spPr bwMode="auto">
          <a:xfrm>
            <a:off x="1927185" y="2881539"/>
            <a:ext cx="8337630" cy="1094921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D5C94F-4A35-4974-8B8E-369058480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Multiprocessor Systems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9E64D6-D97C-4BBF-B36F-5AE3F695B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1085" y="1187450"/>
            <a:ext cx="9921659" cy="4483100"/>
          </a:xfrm>
        </p:spPr>
        <p:txBody>
          <a:bodyPr/>
          <a:lstStyle/>
          <a:p>
            <a:r>
              <a:rPr lang="en-US" altLang="zh-CN" sz="2000" dirty="0"/>
              <a:t>SMP architecture</a:t>
            </a:r>
          </a:p>
          <a:p>
            <a:pPr lvl="1"/>
            <a:r>
              <a:rPr lang="en-US" altLang="zh-CN" sz="2000" dirty="0"/>
              <a:t>Each CPU processor has its own set of registers</a:t>
            </a:r>
          </a:p>
          <a:p>
            <a:pPr lvl="1"/>
            <a:r>
              <a:rPr lang="en-US" altLang="zh-CN" sz="2000" dirty="0"/>
              <a:t>All processors share physical memory over the system bus</a:t>
            </a:r>
            <a:endParaRPr lang="zh-CN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B862F0-BEBC-4E1C-89DD-08D84C5C4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915" y="2462917"/>
            <a:ext cx="4890060" cy="421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380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1173809-B686-4402-878C-FA12D9A5C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871" y="1657394"/>
            <a:ext cx="5546259" cy="497200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1739364-4909-4C1B-98AA-63C8FF7DE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0776"/>
            <a:ext cx="10769600" cy="609600"/>
          </a:xfrm>
        </p:spPr>
        <p:txBody>
          <a:bodyPr/>
          <a:lstStyle/>
          <a:p>
            <a:r>
              <a:rPr lang="en-US" altLang="zh-CN" dirty="0"/>
              <a:t>Multicore Systems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FB506B-D386-45FB-8216-9F5966926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1088" y="920376"/>
            <a:ext cx="7351712" cy="4845424"/>
          </a:xfrm>
        </p:spPr>
        <p:txBody>
          <a:bodyPr/>
          <a:lstStyle/>
          <a:p>
            <a:r>
              <a:rPr lang="en-US" altLang="zh-CN" dirty="0"/>
              <a:t>On-chip communication is faster than between-chip communication</a:t>
            </a:r>
          </a:p>
          <a:p>
            <a:r>
              <a:rPr lang="en-US" altLang="zh-CN" dirty="0"/>
              <a:t>Less power (good for mobile devices)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34406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CAC4C-F8A7-46E2-AB32-AEC352F14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280240"/>
            <a:ext cx="10769600" cy="609600"/>
          </a:xfrm>
        </p:spPr>
        <p:txBody>
          <a:bodyPr/>
          <a:lstStyle/>
          <a:p>
            <a:r>
              <a:rPr lang="en-US" altLang="zh-CN" dirty="0"/>
              <a:t>The NUMA Architecture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E62599-1003-4E78-AEB2-3CEB5BB92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4171" y="944282"/>
            <a:ext cx="9114972" cy="4821518"/>
          </a:xfrm>
        </p:spPr>
        <p:txBody>
          <a:bodyPr/>
          <a:lstStyle/>
          <a:p>
            <a:r>
              <a:rPr lang="en-US" altLang="zh-CN" sz="2000" dirty="0"/>
              <a:t>The CPUs are connected by a shared system interconnect</a:t>
            </a:r>
          </a:p>
          <a:p>
            <a:r>
              <a:rPr lang="en-US" altLang="zh-CN" sz="2000" dirty="0"/>
              <a:t>Scales more effectively as more processors are added</a:t>
            </a:r>
          </a:p>
          <a:p>
            <a:r>
              <a:rPr lang="en-US" altLang="zh-CN" sz="2000" dirty="0"/>
              <a:t>Remote memory across the interconnect is slow</a:t>
            </a:r>
          </a:p>
          <a:p>
            <a:r>
              <a:rPr lang="en-US" altLang="zh-CN" sz="2000" dirty="0"/>
              <a:t>Operating systems need careful CPU scheduling and memory management</a:t>
            </a:r>
            <a:endParaRPr lang="zh-CN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EF8BB0-53A9-4C16-AF65-75988E5A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923" y="2784339"/>
            <a:ext cx="4612042" cy="379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0533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93144"/>
            <a:ext cx="10769600" cy="609600"/>
          </a:xfrm>
        </p:spPr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Operating System Structure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913" y="991620"/>
            <a:ext cx="10250716" cy="50053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b="1" dirty="0"/>
              <a:t>Multiprogramming</a:t>
            </a:r>
            <a:r>
              <a:rPr lang="en-US" altLang="zh-CN" sz="2000" dirty="0"/>
              <a:t> needed for efficiency </a:t>
            </a:r>
            <a:r>
              <a:rPr lang="en-US" altLang="zh-CN" sz="2000" b="1" dirty="0">
                <a:solidFill>
                  <a:srgbClr val="FF3300"/>
                </a:solidFill>
              </a:rPr>
              <a:t>(CPU utilization)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Single user cannot keep CPU and I/O devices busy at all times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Multiprogramming organizes jobs (code and data) so CPU always has one to execute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A subset of total jobs in system is kept in memory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One job selected and run via </a:t>
            </a:r>
            <a:r>
              <a:rPr lang="en-US" altLang="zh-CN" sz="2000" b="1" dirty="0"/>
              <a:t>job scheduling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When it has to wait (for I/O for example), OS switches to another job</a:t>
            </a:r>
          </a:p>
          <a:p>
            <a:pPr>
              <a:lnSpc>
                <a:spcPct val="90000"/>
              </a:lnSpc>
            </a:pPr>
            <a:r>
              <a:rPr lang="en-US" altLang="zh-CN" sz="2000" b="1" dirty="0"/>
              <a:t>Timesharing (multitasking)</a:t>
            </a:r>
            <a:r>
              <a:rPr lang="en-US" altLang="zh-CN" sz="2000" dirty="0"/>
              <a:t> is logical extension in which CPU switches jobs so frequently that users can interact with each job while it is running, creating </a:t>
            </a:r>
            <a:r>
              <a:rPr lang="en-US" altLang="zh-CN" sz="2000" b="1" dirty="0"/>
              <a:t>interactive</a:t>
            </a:r>
            <a:r>
              <a:rPr lang="en-US" altLang="zh-CN" sz="2000" dirty="0"/>
              <a:t> computing </a:t>
            </a:r>
            <a:r>
              <a:rPr lang="en-US" altLang="zh-CN" sz="2000" b="1" dirty="0">
                <a:solidFill>
                  <a:srgbClr val="FF3300"/>
                </a:solidFill>
              </a:rPr>
              <a:t>(interactivity)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Response time</a:t>
            </a:r>
            <a:r>
              <a:rPr lang="en-US" altLang="zh-CN" sz="2000" dirty="0"/>
              <a:t> should be &lt; 1 second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Each user has at least one program executing in memory </a:t>
            </a:r>
            <a:r>
              <a:rPr lang="en-US" altLang="zh-CN" sz="2000" dirty="0">
                <a:sym typeface="Wingdings 3" panose="05040102010807070707" pitchFamily="18" charset="2"/>
              </a:rPr>
              <a:t></a:t>
            </a:r>
            <a:r>
              <a:rPr lang="en-US" altLang="zh-CN" sz="2000" b="1" dirty="0">
                <a:sym typeface="Wingdings 3" panose="05040102010807070707" pitchFamily="18" charset="2"/>
              </a:rPr>
              <a:t>process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sym typeface="Wingdings 3" panose="05040102010807070707" pitchFamily="18" charset="2"/>
              </a:rPr>
              <a:t>If several jobs ready to run at the same time  </a:t>
            </a:r>
            <a:r>
              <a:rPr lang="en-US" altLang="zh-CN" sz="2000" b="1" dirty="0">
                <a:sym typeface="Wingdings 3" panose="05040102010807070707" pitchFamily="18" charset="2"/>
              </a:rPr>
              <a:t>CPU scheduling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sym typeface="Wingdings 3" panose="05040102010807070707" pitchFamily="18" charset="2"/>
              </a:rPr>
              <a:t>If processes don’t fit in memory, </a:t>
            </a:r>
            <a:r>
              <a:rPr lang="en-US" altLang="zh-CN" sz="2000" b="1" dirty="0">
                <a:sym typeface="Wingdings 3" panose="05040102010807070707" pitchFamily="18" charset="2"/>
              </a:rPr>
              <a:t>swapping</a:t>
            </a:r>
            <a:r>
              <a:rPr lang="en-US" altLang="zh-CN" sz="2000" dirty="0">
                <a:sym typeface="Wingdings 3" panose="05040102010807070707" pitchFamily="18" charset="2"/>
              </a:rPr>
              <a:t> moves them in and out to run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>
                <a:sym typeface="Wingdings 3" panose="05040102010807070707" pitchFamily="18" charset="2"/>
              </a:rPr>
              <a:t>Virtual memory</a:t>
            </a:r>
            <a:r>
              <a:rPr lang="en-US" altLang="zh-CN" sz="2000" dirty="0">
                <a:sym typeface="Wingdings 3" panose="05040102010807070707" pitchFamily="18" charset="2"/>
              </a:rPr>
              <a:t> allows execution of processes not completely in memory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Memory Layout for Multiprogrammed System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49" t="885" r="26328" b="1476"/>
          <a:stretch>
            <a:fillRect/>
          </a:stretch>
        </p:blipFill>
        <p:spPr bwMode="auto">
          <a:xfrm>
            <a:off x="4540250" y="1367518"/>
            <a:ext cx="3111500" cy="48355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49601"/>
            <a:ext cx="10769600" cy="609600"/>
          </a:xfrm>
        </p:spPr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Operating-System Operations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7600" y="1096963"/>
            <a:ext cx="10094686" cy="44831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dirty="0"/>
              <a:t>Interrupt driven by hardware</a:t>
            </a:r>
          </a:p>
          <a:p>
            <a:pPr>
              <a:lnSpc>
                <a:spcPct val="90000"/>
              </a:lnSpc>
            </a:pPr>
            <a:r>
              <a:rPr lang="en-US" altLang="zh-CN" sz="2000" dirty="0"/>
              <a:t>Software error or request creates </a:t>
            </a:r>
            <a:r>
              <a:rPr lang="en-US" altLang="zh-CN" sz="2000" b="1" dirty="0">
                <a:solidFill>
                  <a:srgbClr val="FF3300"/>
                </a:solidFill>
              </a:rPr>
              <a:t>exception</a:t>
            </a:r>
            <a:r>
              <a:rPr lang="en-US" altLang="zh-CN" sz="2000" dirty="0"/>
              <a:t> or </a:t>
            </a:r>
            <a:r>
              <a:rPr lang="en-US" altLang="zh-CN" sz="2000" b="1" dirty="0">
                <a:solidFill>
                  <a:srgbClr val="FF3300"/>
                </a:solidFill>
              </a:rPr>
              <a:t>trap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Division by zero, request for operating system service</a:t>
            </a:r>
          </a:p>
          <a:p>
            <a:pPr>
              <a:lnSpc>
                <a:spcPct val="90000"/>
              </a:lnSpc>
            </a:pPr>
            <a:r>
              <a:rPr lang="en-US" altLang="zh-CN" sz="2000" dirty="0"/>
              <a:t>Other process problems include </a:t>
            </a:r>
            <a:r>
              <a:rPr lang="en-US" altLang="zh-CN" sz="2000" dirty="0">
                <a:solidFill>
                  <a:srgbClr val="FF3300"/>
                </a:solidFill>
              </a:rPr>
              <a:t>infinite loop</a:t>
            </a:r>
            <a:r>
              <a:rPr lang="en-US" altLang="zh-CN" sz="2000" dirty="0"/>
              <a:t>, processes </a:t>
            </a:r>
            <a:r>
              <a:rPr lang="en-US" altLang="zh-CN" sz="2000" dirty="0">
                <a:solidFill>
                  <a:srgbClr val="FF3300"/>
                </a:solidFill>
              </a:rPr>
              <a:t>modifying</a:t>
            </a:r>
            <a:r>
              <a:rPr lang="en-US" altLang="zh-CN" sz="2000" dirty="0"/>
              <a:t> each other or the operating system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zh-CN" sz="1600" i="1" dirty="0">
                <a:solidFill>
                  <a:srgbClr val="FF0000"/>
                </a:solidFill>
              </a:rPr>
              <a:t>Thus we need protection:</a:t>
            </a:r>
          </a:p>
          <a:p>
            <a:pPr>
              <a:lnSpc>
                <a:spcPct val="90000"/>
              </a:lnSpc>
            </a:pPr>
            <a:r>
              <a:rPr lang="en-US" altLang="zh-CN" sz="2000" b="1" dirty="0"/>
              <a:t>Dual-mode</a:t>
            </a:r>
            <a:r>
              <a:rPr lang="en-US" altLang="zh-CN" sz="2000" dirty="0"/>
              <a:t> operation allows OS to protect itself and other system components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User mode</a:t>
            </a:r>
            <a:r>
              <a:rPr lang="en-US" altLang="zh-CN" sz="2000" dirty="0"/>
              <a:t> and </a:t>
            </a:r>
            <a:r>
              <a:rPr lang="en-US" altLang="zh-CN" sz="2000" b="1" dirty="0"/>
              <a:t>kernel mode</a:t>
            </a:r>
            <a:r>
              <a:rPr lang="en-US" altLang="zh-CN" sz="20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Mode bit</a:t>
            </a:r>
            <a:r>
              <a:rPr lang="en-US" altLang="zh-CN" sz="2000" dirty="0"/>
              <a:t> provided by hardware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/>
              <a:t>Provides ability to distinguish when system is running user code or kernel code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/>
              <a:t>Some instructions designated as </a:t>
            </a:r>
            <a:r>
              <a:rPr lang="en-US" altLang="zh-CN" sz="2000" b="1" dirty="0"/>
              <a:t>privileged</a:t>
            </a:r>
            <a:r>
              <a:rPr lang="en-US" altLang="zh-CN" sz="2000" dirty="0"/>
              <a:t>, only executable in kernel mode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/>
              <a:t>System call changes mode to kernel, return from call resets it to user</a:t>
            </a:r>
          </a:p>
          <a:p>
            <a:pPr lvl="1">
              <a:lnSpc>
                <a:spcPct val="90000"/>
              </a:lnSpc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Transition from User to Kernel Mode</a:t>
            </a:r>
          </a:p>
        </p:txBody>
      </p:sp>
      <p:sp>
        <p:nvSpPr>
          <p:cNvPr id="5222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095829" y="1187450"/>
            <a:ext cx="10341427" cy="4483100"/>
          </a:xfrm>
        </p:spPr>
        <p:txBody>
          <a:bodyPr/>
          <a:lstStyle/>
          <a:p>
            <a:r>
              <a:rPr lang="en-US" altLang="zh-CN" sz="2000" dirty="0"/>
              <a:t>Timer to prevent infinite loop / process hogging resources</a:t>
            </a:r>
          </a:p>
          <a:p>
            <a:pPr lvl="1"/>
            <a:r>
              <a:rPr lang="en-US" altLang="zh-CN" sz="2000" dirty="0"/>
              <a:t>Set interrupt after specific period</a:t>
            </a:r>
          </a:p>
          <a:p>
            <a:pPr lvl="1"/>
            <a:r>
              <a:rPr lang="en-US" altLang="zh-CN" sz="2000" dirty="0"/>
              <a:t>Operating system decrements counter</a:t>
            </a:r>
          </a:p>
          <a:p>
            <a:pPr lvl="1"/>
            <a:r>
              <a:rPr lang="en-US" altLang="zh-CN" sz="2000" dirty="0"/>
              <a:t>When counter zero generate an interrupt</a:t>
            </a:r>
          </a:p>
          <a:p>
            <a:pPr lvl="1"/>
            <a:r>
              <a:rPr lang="en-US" altLang="zh-CN" sz="2000" dirty="0"/>
              <a:t>Set up before scheduling process to regain control or terminate program that exceeds allotted time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" t="30278" r="417" b="30000"/>
          <a:stretch>
            <a:fillRect/>
          </a:stretch>
        </p:blipFill>
        <p:spPr bwMode="auto">
          <a:xfrm>
            <a:off x="1817616" y="3783556"/>
            <a:ext cx="8556767" cy="257084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162515"/>
            <a:ext cx="10769600" cy="609600"/>
          </a:xfrm>
        </p:spPr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Process Management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9769" y="1257753"/>
            <a:ext cx="9738973" cy="44831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dirty="0"/>
              <a:t>A process is a program in execution. It is a unit of work within the system. Program is a </a:t>
            </a:r>
            <a:r>
              <a:rPr lang="en-US" altLang="zh-CN" sz="2000" i="1" dirty="0">
                <a:solidFill>
                  <a:srgbClr val="FF3300"/>
                </a:solidFill>
              </a:rPr>
              <a:t>passive entity</a:t>
            </a:r>
            <a:r>
              <a:rPr lang="en-US" altLang="zh-CN" sz="2000" dirty="0"/>
              <a:t>, process is an </a:t>
            </a:r>
            <a:r>
              <a:rPr lang="en-US" altLang="zh-CN" sz="2000" i="1" dirty="0">
                <a:solidFill>
                  <a:srgbClr val="FF3300"/>
                </a:solidFill>
              </a:rPr>
              <a:t>active entity</a:t>
            </a:r>
            <a:r>
              <a:rPr lang="en-US" altLang="zh-CN" sz="2000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zh-CN" sz="2000" dirty="0"/>
              <a:t>Process needs resources to accomplish its task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CPU, memory, I/O, files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Initialization data</a:t>
            </a:r>
          </a:p>
          <a:p>
            <a:pPr>
              <a:lnSpc>
                <a:spcPct val="90000"/>
              </a:lnSpc>
            </a:pPr>
            <a:r>
              <a:rPr lang="en-US" altLang="zh-CN" sz="2000" dirty="0"/>
              <a:t>Process termination requires reclaim of any reusable resources</a:t>
            </a:r>
          </a:p>
          <a:p>
            <a:pPr>
              <a:lnSpc>
                <a:spcPct val="90000"/>
              </a:lnSpc>
            </a:pPr>
            <a:r>
              <a:rPr lang="en-US" altLang="zh-CN" sz="2000" dirty="0"/>
              <a:t>Single-threaded process has one </a:t>
            </a:r>
            <a:r>
              <a:rPr lang="en-US" altLang="zh-CN" sz="2000" b="1" dirty="0">
                <a:solidFill>
                  <a:srgbClr val="FF3300"/>
                </a:solidFill>
              </a:rPr>
              <a:t>program counter</a:t>
            </a:r>
            <a:r>
              <a:rPr lang="en-US" altLang="zh-CN" sz="2000" dirty="0"/>
              <a:t> specifying location of next instruction to execute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Process executes instructions sequentially, one at a time, until completion</a:t>
            </a:r>
          </a:p>
          <a:p>
            <a:pPr>
              <a:lnSpc>
                <a:spcPct val="90000"/>
              </a:lnSpc>
            </a:pPr>
            <a:r>
              <a:rPr lang="en-US" altLang="zh-CN" sz="2000" dirty="0"/>
              <a:t>Multi-threaded process has one </a:t>
            </a:r>
            <a:r>
              <a:rPr lang="en-US" altLang="zh-CN" sz="2000" dirty="0">
                <a:solidFill>
                  <a:srgbClr val="FF0000"/>
                </a:solidFill>
              </a:rPr>
              <a:t>program counter per thread</a:t>
            </a:r>
          </a:p>
          <a:p>
            <a:pPr>
              <a:lnSpc>
                <a:spcPct val="90000"/>
              </a:lnSpc>
            </a:pPr>
            <a:r>
              <a:rPr lang="en-US" altLang="zh-CN" sz="2000" dirty="0"/>
              <a:t>Typically system has many processes, some user, some operating system running concurrently on </a:t>
            </a:r>
            <a:r>
              <a:rPr lang="en-US" altLang="zh-CN" sz="2000" dirty="0">
                <a:solidFill>
                  <a:srgbClr val="FF3300"/>
                </a:solidFill>
              </a:rPr>
              <a:t>one or more CPUs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Concurrency by </a:t>
            </a:r>
            <a:r>
              <a:rPr lang="en-US" altLang="zh-CN" sz="2000" dirty="0">
                <a:solidFill>
                  <a:srgbClr val="FF0000"/>
                </a:solidFill>
              </a:rPr>
              <a:t>multiplexing the CPUs </a:t>
            </a:r>
            <a:r>
              <a:rPr lang="en-US" altLang="zh-CN" sz="2000" dirty="0"/>
              <a:t>among the processes / threads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Process Management Activities</a:t>
            </a:r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0685" y="1495829"/>
            <a:ext cx="10582059" cy="44831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zh-CN" sz="2000" dirty="0"/>
              <a:t>The operating system is responsible for the following activities in  connection with process management:</a:t>
            </a:r>
          </a:p>
          <a:p>
            <a:r>
              <a:rPr lang="en-US" altLang="zh-CN" sz="2000" dirty="0">
                <a:solidFill>
                  <a:srgbClr val="FF3300"/>
                </a:solidFill>
              </a:rPr>
              <a:t>Creating</a:t>
            </a:r>
            <a:r>
              <a:rPr lang="en-US" altLang="zh-CN" sz="2000" dirty="0"/>
              <a:t> and </a:t>
            </a:r>
            <a:r>
              <a:rPr lang="en-US" altLang="zh-CN" sz="2000" dirty="0">
                <a:solidFill>
                  <a:srgbClr val="FF3300"/>
                </a:solidFill>
              </a:rPr>
              <a:t>deleting</a:t>
            </a:r>
            <a:r>
              <a:rPr lang="en-US" altLang="zh-CN" sz="2000" dirty="0"/>
              <a:t> both user and system processes</a:t>
            </a:r>
          </a:p>
          <a:p>
            <a:r>
              <a:rPr lang="en-US" altLang="zh-CN" sz="2000" dirty="0">
                <a:solidFill>
                  <a:srgbClr val="FF3300"/>
                </a:solidFill>
              </a:rPr>
              <a:t>Suspending</a:t>
            </a:r>
            <a:r>
              <a:rPr lang="en-US" altLang="zh-CN" sz="2000" dirty="0"/>
              <a:t> and </a:t>
            </a:r>
            <a:r>
              <a:rPr lang="en-US" altLang="zh-CN" sz="2000" dirty="0">
                <a:solidFill>
                  <a:srgbClr val="FF3300"/>
                </a:solidFill>
              </a:rPr>
              <a:t>resuming</a:t>
            </a:r>
            <a:r>
              <a:rPr lang="en-US" altLang="zh-CN" sz="2000" dirty="0"/>
              <a:t> processes</a:t>
            </a:r>
          </a:p>
          <a:p>
            <a:r>
              <a:rPr lang="en-US" altLang="zh-CN" sz="2000" dirty="0"/>
              <a:t>Providing mechanisms for process </a:t>
            </a:r>
            <a:r>
              <a:rPr lang="en-US" altLang="zh-CN" sz="2000" dirty="0">
                <a:solidFill>
                  <a:srgbClr val="FF3300"/>
                </a:solidFill>
              </a:rPr>
              <a:t>synchronization</a:t>
            </a:r>
          </a:p>
          <a:p>
            <a:r>
              <a:rPr lang="en-US" altLang="zh-CN" sz="2000" dirty="0"/>
              <a:t>Providing mechanisms for process </a:t>
            </a:r>
            <a:r>
              <a:rPr lang="en-US" altLang="zh-CN" sz="2000" dirty="0">
                <a:solidFill>
                  <a:srgbClr val="FF3300"/>
                </a:solidFill>
              </a:rPr>
              <a:t>communication</a:t>
            </a:r>
          </a:p>
          <a:p>
            <a:r>
              <a:rPr lang="en-US" altLang="zh-CN" sz="2000" dirty="0"/>
              <a:t>Providing mechanisms for </a:t>
            </a:r>
            <a:r>
              <a:rPr lang="en-US" altLang="zh-CN" sz="2000" dirty="0">
                <a:solidFill>
                  <a:srgbClr val="FF3300"/>
                </a:solidFill>
              </a:rPr>
              <a:t>deadlock</a:t>
            </a:r>
            <a:r>
              <a:rPr lang="en-US" altLang="zh-CN" sz="2000" dirty="0"/>
              <a:t> handling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Memory Management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 dirty="0"/>
              <a:t>All </a:t>
            </a:r>
            <a:r>
              <a:rPr lang="en-US" altLang="zh-CN" sz="2000" dirty="0">
                <a:solidFill>
                  <a:srgbClr val="FF3300"/>
                </a:solidFill>
              </a:rPr>
              <a:t>data</a:t>
            </a:r>
            <a:r>
              <a:rPr lang="en-US" altLang="zh-CN" sz="2000" dirty="0"/>
              <a:t> must be in memory before and after processing</a:t>
            </a:r>
          </a:p>
          <a:p>
            <a:r>
              <a:rPr lang="en-US" altLang="zh-CN" sz="2000" dirty="0"/>
              <a:t>All </a:t>
            </a:r>
            <a:r>
              <a:rPr lang="en-US" altLang="zh-CN" sz="2000" dirty="0">
                <a:solidFill>
                  <a:srgbClr val="FF3300"/>
                </a:solidFill>
              </a:rPr>
              <a:t>instructions</a:t>
            </a:r>
            <a:r>
              <a:rPr lang="en-US" altLang="zh-CN" sz="2000" dirty="0"/>
              <a:t> must be in memory in order to execute</a:t>
            </a:r>
          </a:p>
          <a:p>
            <a:r>
              <a:rPr lang="en-US" altLang="zh-CN" sz="2000" dirty="0"/>
              <a:t>Memory management determines what is in memory when</a:t>
            </a:r>
          </a:p>
          <a:p>
            <a:pPr lvl="1"/>
            <a:r>
              <a:rPr lang="en-US" altLang="zh-CN" sz="2000" dirty="0"/>
              <a:t>Optimizing CPU utilization and computer response to users</a:t>
            </a:r>
          </a:p>
          <a:p>
            <a:r>
              <a:rPr lang="en-US" altLang="zh-CN" sz="2000" dirty="0"/>
              <a:t>Memory management activities</a:t>
            </a:r>
          </a:p>
          <a:p>
            <a:pPr lvl="1"/>
            <a:r>
              <a:rPr lang="en-US" altLang="zh-CN" sz="2000" dirty="0"/>
              <a:t>Keeping track of which parts of memory are currently being used and by whom</a:t>
            </a:r>
          </a:p>
          <a:p>
            <a:pPr lvl="1"/>
            <a:r>
              <a:rPr lang="en-US" altLang="zh-CN" sz="2000" dirty="0"/>
              <a:t>Deciding which processes (or parts thereof) and data to move into and out of memory</a:t>
            </a:r>
          </a:p>
          <a:p>
            <a:pPr lvl="1"/>
            <a:r>
              <a:rPr lang="en-US" altLang="zh-CN" sz="2000" dirty="0"/>
              <a:t>Allocating and deallocating memory space as needed</a:t>
            </a:r>
          </a:p>
          <a:p>
            <a:pPr lvl="1">
              <a:buFont typeface="Monotype Sorts" pitchFamily="-84" charset="2"/>
              <a:buNone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2644" y="140744"/>
            <a:ext cx="10769600" cy="609600"/>
          </a:xfrm>
        </p:spPr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Storage Management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6096" y="1066574"/>
            <a:ext cx="9222695" cy="45545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dirty="0"/>
              <a:t>OS provides uniform, logical view of information storage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Abstracts physical properties to logical storage unit  - </a:t>
            </a:r>
            <a:r>
              <a:rPr lang="en-US" altLang="zh-CN" sz="2000" b="1" dirty="0">
                <a:solidFill>
                  <a:srgbClr val="FF3300"/>
                </a:solidFill>
              </a:rPr>
              <a:t>file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Each medium is controlled by device (i.e., disk drive, tape drive)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/>
              <a:t>Varying properties include access speed, capacity, data-transfer rate, access method (sequential or random)</a:t>
            </a:r>
          </a:p>
          <a:p>
            <a:pPr>
              <a:lnSpc>
                <a:spcPct val="90000"/>
              </a:lnSpc>
            </a:pPr>
            <a:r>
              <a:rPr lang="en-US" altLang="zh-CN" sz="2000" dirty="0"/>
              <a:t>File-System management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Files usually organized into </a:t>
            </a:r>
            <a:r>
              <a:rPr lang="en-US" altLang="zh-CN" sz="2000" dirty="0">
                <a:solidFill>
                  <a:srgbClr val="FF3300"/>
                </a:solidFill>
              </a:rPr>
              <a:t>directories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solidFill>
                  <a:srgbClr val="FF3300"/>
                </a:solidFill>
              </a:rPr>
              <a:t>Access control</a:t>
            </a:r>
            <a:r>
              <a:rPr lang="en-US" altLang="zh-CN" sz="2000" dirty="0"/>
              <a:t> on most systems to determine who can access what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OS activities include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/>
              <a:t>Creating and deleting files and directories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/>
              <a:t>Primitives to manipulate files and </a:t>
            </a:r>
            <a:r>
              <a:rPr lang="en-US" altLang="zh-CN" sz="2000" dirty="0" err="1"/>
              <a:t>dirs</a:t>
            </a:r>
            <a:endParaRPr lang="en-US" altLang="zh-CN" sz="2000" dirty="0"/>
          </a:p>
          <a:p>
            <a:pPr lvl="2">
              <a:lnSpc>
                <a:spcPct val="90000"/>
              </a:lnSpc>
            </a:pPr>
            <a:r>
              <a:rPr lang="en-US" altLang="zh-CN" sz="2000" dirty="0"/>
              <a:t>Mapping files onto secondary storage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/>
              <a:t>Backup files onto stable (non-volatile) storage media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56859"/>
            <a:ext cx="10769600" cy="609600"/>
          </a:xfrm>
        </p:spPr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Mass-Storage Management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9914" y="1187450"/>
            <a:ext cx="9572172" cy="4483100"/>
          </a:xfrm>
        </p:spPr>
        <p:txBody>
          <a:bodyPr/>
          <a:lstStyle/>
          <a:p>
            <a:r>
              <a:rPr lang="en-US" altLang="zh-CN" sz="2000" dirty="0"/>
              <a:t>Usually disks used to store data that does not fit in main memory or data that must be kept for a “long” period of time.</a:t>
            </a:r>
          </a:p>
          <a:p>
            <a:r>
              <a:rPr lang="en-US" altLang="zh-CN" sz="2000" dirty="0"/>
              <a:t>Proper management is of central importance</a:t>
            </a:r>
          </a:p>
          <a:p>
            <a:r>
              <a:rPr lang="en-US" altLang="zh-CN" sz="2000" dirty="0"/>
              <a:t>Entire </a:t>
            </a:r>
            <a:r>
              <a:rPr lang="en-US" altLang="zh-CN" sz="2000" dirty="0">
                <a:solidFill>
                  <a:srgbClr val="FF3300"/>
                </a:solidFill>
              </a:rPr>
              <a:t>speed</a:t>
            </a:r>
            <a:r>
              <a:rPr lang="en-US" altLang="zh-CN" sz="2000" dirty="0"/>
              <a:t> of computer operation hinges on disk subsystem and its algorithms</a:t>
            </a:r>
          </a:p>
          <a:p>
            <a:r>
              <a:rPr lang="en-US" altLang="zh-CN" sz="2000" dirty="0"/>
              <a:t>OS activities</a:t>
            </a:r>
          </a:p>
          <a:p>
            <a:pPr lvl="1"/>
            <a:r>
              <a:rPr lang="en-US" altLang="zh-CN" sz="2000" dirty="0"/>
              <a:t>Free-space management</a:t>
            </a:r>
          </a:p>
          <a:p>
            <a:pPr lvl="1"/>
            <a:r>
              <a:rPr lang="en-US" altLang="zh-CN" sz="2000" dirty="0"/>
              <a:t>Storage allocation</a:t>
            </a:r>
          </a:p>
          <a:p>
            <a:pPr lvl="1"/>
            <a:r>
              <a:rPr lang="en-US" altLang="zh-CN" sz="2000" dirty="0"/>
              <a:t>Disk scheduling</a:t>
            </a:r>
          </a:p>
          <a:p>
            <a:r>
              <a:rPr lang="en-US" altLang="zh-CN" sz="2000" dirty="0"/>
              <a:t>Some storage needs not be fast</a:t>
            </a:r>
          </a:p>
          <a:p>
            <a:pPr lvl="1"/>
            <a:r>
              <a:rPr lang="en-US" altLang="zh-CN" sz="2000" dirty="0"/>
              <a:t>Tertiary storage includes optical storage, magnetic tape</a:t>
            </a:r>
          </a:p>
          <a:p>
            <a:pPr lvl="1"/>
            <a:r>
              <a:rPr lang="en-US" altLang="zh-CN" sz="2000" dirty="0"/>
              <a:t>Still must be managed</a:t>
            </a:r>
          </a:p>
          <a:p>
            <a:pPr lvl="1"/>
            <a:r>
              <a:rPr lang="en-US" altLang="zh-CN" sz="2000" dirty="0"/>
              <a:t>Varies between WORM (write-once, read-many-times) and RW (read-write)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69471"/>
            <a:ext cx="10769600" cy="609600"/>
          </a:xfrm>
        </p:spPr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I/O Subsystem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dirty="0"/>
              <a:t>One purpose of OS is to </a:t>
            </a:r>
            <a:r>
              <a:rPr lang="en-US" altLang="zh-CN" sz="2400" dirty="0">
                <a:solidFill>
                  <a:srgbClr val="FF3300"/>
                </a:solidFill>
              </a:rPr>
              <a:t>hide peculiarities</a:t>
            </a:r>
            <a:r>
              <a:rPr lang="en-US" altLang="zh-CN" sz="2400" dirty="0"/>
              <a:t> of hardware devices from the user – </a:t>
            </a:r>
            <a:r>
              <a:rPr lang="en-US" altLang="zh-CN" sz="2400" i="1" dirty="0"/>
              <a:t>ease of usage &amp; programming</a:t>
            </a:r>
          </a:p>
          <a:p>
            <a:r>
              <a:rPr lang="en-US" altLang="zh-CN" sz="2400" dirty="0"/>
              <a:t>I/O subsystem responsible for</a:t>
            </a:r>
          </a:p>
          <a:p>
            <a:pPr lvl="1"/>
            <a:r>
              <a:rPr lang="en-US" altLang="zh-CN" sz="2400" dirty="0"/>
              <a:t>Memory management of I/O including </a:t>
            </a:r>
            <a:r>
              <a:rPr lang="en-US" altLang="zh-CN" sz="2400" dirty="0">
                <a:solidFill>
                  <a:srgbClr val="FF3300"/>
                </a:solidFill>
              </a:rPr>
              <a:t>buffering</a:t>
            </a:r>
            <a:r>
              <a:rPr lang="en-US" altLang="zh-CN" sz="2400" dirty="0"/>
              <a:t> (storing data temporarily while it is being transferred), </a:t>
            </a:r>
            <a:r>
              <a:rPr lang="en-US" altLang="zh-CN" sz="2400" dirty="0">
                <a:solidFill>
                  <a:srgbClr val="FF3300"/>
                </a:solidFill>
              </a:rPr>
              <a:t>caching</a:t>
            </a:r>
            <a:r>
              <a:rPr lang="en-US" altLang="zh-CN" sz="2400" dirty="0"/>
              <a:t> (storing parts of data in faster storage for performance), </a:t>
            </a:r>
            <a:r>
              <a:rPr lang="en-US" altLang="zh-CN" sz="2400" dirty="0">
                <a:solidFill>
                  <a:srgbClr val="FF3300"/>
                </a:solidFill>
              </a:rPr>
              <a:t>spooling</a:t>
            </a:r>
            <a:r>
              <a:rPr lang="en-US" altLang="zh-CN" sz="2400" dirty="0"/>
              <a:t> (the overlapping of output of one job with input of other jobs)</a:t>
            </a:r>
          </a:p>
          <a:p>
            <a:pPr lvl="1"/>
            <a:r>
              <a:rPr lang="en-US" altLang="zh-CN" sz="2400" dirty="0"/>
              <a:t>General device-driver interface</a:t>
            </a:r>
          </a:p>
          <a:p>
            <a:pPr lvl="1"/>
            <a:r>
              <a:rPr lang="en-US" altLang="zh-CN" sz="2400" dirty="0"/>
              <a:t>Drivers for specific hardware devices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 Purposes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00867" y="1113201"/>
            <a:ext cx="10270002" cy="460007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400" dirty="0"/>
              <a:t>Basic requirements for OS</a:t>
            </a:r>
          </a:p>
          <a:p>
            <a:pPr lvl="1">
              <a:lnSpc>
                <a:spcPct val="120000"/>
              </a:lnSpc>
            </a:pPr>
            <a:r>
              <a:rPr lang="en-US" altLang="zh-CN" sz="2400" dirty="0"/>
              <a:t>Sharing/multiplexing</a:t>
            </a:r>
          </a:p>
          <a:p>
            <a:pPr lvl="1">
              <a:lnSpc>
                <a:spcPct val="120000"/>
              </a:lnSpc>
            </a:pPr>
            <a:r>
              <a:rPr lang="en-US" altLang="zh-CN" sz="2400" dirty="0"/>
              <a:t>Isolation</a:t>
            </a:r>
          </a:p>
          <a:p>
            <a:pPr lvl="1">
              <a:lnSpc>
                <a:spcPct val="120000"/>
              </a:lnSpc>
            </a:pPr>
            <a:r>
              <a:rPr lang="en-US" altLang="zh-CN" sz="2400" dirty="0"/>
              <a:t>Interaction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Abstraction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Security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Performance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Range of uses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523049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End of Chapter 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0E246-5A7C-413E-A887-14EFE12E4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RISC-V Registers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E386AB-4B7E-4653-83D1-2EB499A6B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113201"/>
            <a:ext cx="7351712" cy="4856922"/>
          </a:xfrm>
        </p:spPr>
        <p:txBody>
          <a:bodyPr/>
          <a:lstStyle/>
          <a:p>
            <a:r>
              <a:rPr lang="en-US" altLang="zh-CN" dirty="0"/>
              <a:t>Register file as follows: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In addition, RISC-V has a set of Control &amp; Status Registers (CSRs)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C59E9E-D9C2-41F1-8610-980959190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547740"/>
            <a:ext cx="9144000" cy="375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69929"/>
      </p:ext>
    </p:extLst>
  </p:cSld>
  <p:clrMapOvr>
    <a:masterClrMapping/>
  </p:clrMapOvr>
</p:sld>
</file>

<file path=ppt/theme/theme1.xml><?xml version="1.0" encoding="utf-8"?>
<a:theme xmlns:a="http://schemas.openxmlformats.org/drawingml/2006/main" name="os-w-java">
  <a:themeElements>
    <a:clrScheme name="">
      <a:dk1>
        <a:srgbClr val="000000"/>
      </a:dk1>
      <a:lt1>
        <a:srgbClr val="FFFF99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FFFFCA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os-w-java">
      <a:majorFont>
        <a:latin typeface="Helvetica"/>
        <a:ea typeface="宋体"/>
        <a:cs typeface=""/>
      </a:majorFont>
      <a:minorFont>
        <a:latin typeface="Helvetica"/>
        <a:ea typeface="宋体"/>
        <a:cs typeface="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  <a:ea typeface="宋体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  <a:ea typeface="宋体" charset="0"/>
          </a:defRPr>
        </a:defPPr>
      </a:lstStyle>
    </a:lnDef>
  </a:objectDefaults>
  <a:extraClrSchemeLst>
    <a:extraClrScheme>
      <a:clrScheme name="os-w-java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w-java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w-jav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58114</TotalTime>
  <Words>4261</Words>
  <Application>Microsoft Macintosh PowerPoint</Application>
  <PresentationFormat>宽屏</PresentationFormat>
  <Paragraphs>543</Paragraphs>
  <Slides>57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3" baseType="lpstr">
      <vt:lpstr>仿宋</vt:lpstr>
      <vt:lpstr>华文楷体</vt:lpstr>
      <vt:lpstr>楷体</vt:lpstr>
      <vt:lpstr>宋体</vt:lpstr>
      <vt:lpstr>Microsoft YaHei</vt:lpstr>
      <vt:lpstr>intel-clear</vt:lpstr>
      <vt:lpstr>Book Antiqua</vt:lpstr>
      <vt:lpstr>Consolas</vt:lpstr>
      <vt:lpstr>Helvetica</vt:lpstr>
      <vt:lpstr>Monotype Sorts</vt:lpstr>
      <vt:lpstr>roboto</vt:lpstr>
      <vt:lpstr>Times New Roman</vt:lpstr>
      <vt:lpstr>Webdings</vt:lpstr>
      <vt:lpstr>Wingdings</vt:lpstr>
      <vt:lpstr>os-w-java</vt:lpstr>
      <vt:lpstr>ClipArt</vt:lpstr>
      <vt:lpstr>Operating Systems  (操作系统 2026秋冬）  教四-306（周2第9-10节，周4第7-8节） 实验课：曹西-503（周3第11-12节）  Lecture 1: Overview</vt:lpstr>
      <vt:lpstr>PowerPoint 演示文稿</vt:lpstr>
      <vt:lpstr>Main Contents</vt:lpstr>
      <vt:lpstr>Why is OS still important in ChatGPT-era?</vt:lpstr>
      <vt:lpstr>Why To Learn Operating Systems?</vt:lpstr>
      <vt:lpstr>PowerPoint 演示文稿</vt:lpstr>
      <vt:lpstr>PowerPoint 演示文稿</vt:lpstr>
      <vt:lpstr>PowerPoint 演示文稿</vt:lpstr>
      <vt:lpstr>PowerPoint 演示文稿</vt:lpstr>
      <vt:lpstr>Online Assignments</vt:lpstr>
      <vt:lpstr>Lab Projects</vt:lpstr>
      <vt:lpstr>Lab Projects</vt:lpstr>
      <vt:lpstr>Final Grade</vt:lpstr>
      <vt:lpstr>PowerPoint 演示文稿</vt:lpstr>
      <vt:lpstr>Lab0: GDB + QEMU, LINUX Debug</vt:lpstr>
      <vt:lpstr>Chapter 1 Introduction</vt:lpstr>
      <vt:lpstr>Outlines for Chapter ONE</vt:lpstr>
      <vt:lpstr>Objectives</vt:lpstr>
      <vt:lpstr>What is an Operating System?</vt:lpstr>
      <vt:lpstr>Computer System Structure</vt:lpstr>
      <vt:lpstr>Four Components of a Computer System</vt:lpstr>
      <vt:lpstr>Operating System Definition</vt:lpstr>
      <vt:lpstr>Operating System Definition (Cont.)</vt:lpstr>
      <vt:lpstr>Computer Startup</vt:lpstr>
      <vt:lpstr>Computer System Organization</vt:lpstr>
      <vt:lpstr>Computer-System Operation</vt:lpstr>
      <vt:lpstr>PowerPoint 演示文稿</vt:lpstr>
      <vt:lpstr>Common Functions of Interrupts</vt:lpstr>
      <vt:lpstr>Interrupt Handling</vt:lpstr>
      <vt:lpstr>Interrupt Timeline</vt:lpstr>
      <vt:lpstr>Interrupt-Driven I/O Cycle</vt:lpstr>
      <vt:lpstr>I/O Structure – Two I/O Methods</vt:lpstr>
      <vt:lpstr>Two I/O Methods</vt:lpstr>
      <vt:lpstr>Device-Status Table</vt:lpstr>
      <vt:lpstr>Direct Memory Access Structure</vt:lpstr>
      <vt:lpstr>Storage Structure</vt:lpstr>
      <vt:lpstr>Storage Hierarchy</vt:lpstr>
      <vt:lpstr>Storage-Device Hierarchy</vt:lpstr>
      <vt:lpstr>Caching</vt:lpstr>
      <vt:lpstr>Performance of Various Levels of Storage</vt:lpstr>
      <vt:lpstr>Migration of Integer A from Disk to Register</vt:lpstr>
      <vt:lpstr>Multiprocessor Systems</vt:lpstr>
      <vt:lpstr>Multicore Systems</vt:lpstr>
      <vt:lpstr>The NUMA Architecture</vt:lpstr>
      <vt:lpstr>Operating System Structure</vt:lpstr>
      <vt:lpstr>Memory Layout for Multiprogrammed System</vt:lpstr>
      <vt:lpstr>Operating-System Operations</vt:lpstr>
      <vt:lpstr>Transition from User to Kernel Mode</vt:lpstr>
      <vt:lpstr>Process Management</vt:lpstr>
      <vt:lpstr>Process Management Activities</vt:lpstr>
      <vt:lpstr>Memory Management</vt:lpstr>
      <vt:lpstr>Storage Management</vt:lpstr>
      <vt:lpstr>Mass-Storage Management</vt:lpstr>
      <vt:lpstr>I/O Subsystem</vt:lpstr>
      <vt:lpstr>OS Purposes</vt:lpstr>
      <vt:lpstr>End of Chapter 1</vt:lpstr>
      <vt:lpstr>RISC-V Registers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1.01</dc:title>
  <dc:creator>should</dc:creator>
  <cp:lastModifiedBy>LidanShou</cp:lastModifiedBy>
  <cp:revision>421</cp:revision>
  <dcterms:created xsi:type="dcterms:W3CDTF">2004-10-07T18:29:30Z</dcterms:created>
  <dcterms:modified xsi:type="dcterms:W3CDTF">2026-09-15T04:21:24Z</dcterms:modified>
</cp:coreProperties>
</file>